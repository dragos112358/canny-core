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Impact" charset="1" panose="020B0806030902050204"/>
      <p:regular r:id="rId39"/>
    </p:embeddedFont>
    <p:embeddedFont>
      <p:font typeface="Inter" charset="1" panose="02000503000000020004"/>
      <p:regular r:id="rId40"/>
    </p:embeddedFont>
    <p:embeddedFont>
      <p:font typeface="Poppins Bold" charset="1" panose="00000800000000000000"/>
      <p:regular r:id="rId41"/>
    </p:embeddedFont>
    <p:embeddedFont>
      <p:font typeface="Poppins" charset="1" panose="00000500000000000000"/>
      <p:regular r:id="rId42"/>
    </p:embeddedFont>
    <p:embeddedFont>
      <p:font typeface="Canva Sans" charset="1" panose="020B0503030501040103"/>
      <p:regular r:id="rId43"/>
    </p:embeddedFont>
    <p:embeddedFont>
      <p:font typeface="Inter Bold" charset="1" panose="02000503000000020004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jpe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4.jpeg" Type="http://schemas.openxmlformats.org/officeDocument/2006/relationships/image"/><Relationship Id="rId7" Target="../media/image2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8.jpeg" Type="http://schemas.openxmlformats.org/officeDocument/2006/relationships/image"/><Relationship Id="rId7" Target="../media/image2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1.jpeg" Type="http://schemas.openxmlformats.org/officeDocument/2006/relationships/image"/><Relationship Id="rId7" Target="../media/image4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5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6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66517">
            <a:off x="8172982" y="-1473762"/>
            <a:ext cx="12307770" cy="7200900"/>
          </a:xfrm>
          <a:custGeom>
            <a:avLst/>
            <a:gdLst/>
            <a:ahLst/>
            <a:cxnLst/>
            <a:rect r="r" b="b" t="t" l="l"/>
            <a:pathLst>
              <a:path h="7200900" w="1230777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493551">
            <a:off x="-3091661" y="3509943"/>
            <a:ext cx="15325477" cy="8242765"/>
          </a:xfrm>
          <a:custGeom>
            <a:avLst/>
            <a:gdLst/>
            <a:ahLst/>
            <a:cxnLst/>
            <a:rect r="r" b="b" t="t" l="l"/>
            <a:pathLst>
              <a:path h="8242765" w="15325477">
                <a:moveTo>
                  <a:pt x="0" y="0"/>
                </a:moveTo>
                <a:lnTo>
                  <a:pt x="15325477" y="0"/>
                </a:lnTo>
                <a:lnTo>
                  <a:pt x="15325477" y="8242765"/>
                </a:lnTo>
                <a:lnTo>
                  <a:pt x="0" y="8242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50042" y="349542"/>
            <a:ext cx="9587917" cy="9587917"/>
          </a:xfrm>
          <a:custGeom>
            <a:avLst/>
            <a:gdLst/>
            <a:ahLst/>
            <a:cxnLst/>
            <a:rect r="r" b="b" t="t" l="l"/>
            <a:pathLst>
              <a:path h="9587917" w="9587917">
                <a:moveTo>
                  <a:pt x="0" y="0"/>
                </a:moveTo>
                <a:lnTo>
                  <a:pt x="9587916" y="0"/>
                </a:lnTo>
                <a:lnTo>
                  <a:pt x="9587916" y="9587916"/>
                </a:lnTo>
                <a:lnTo>
                  <a:pt x="0" y="9587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84372" y="3158097"/>
            <a:ext cx="14319257" cy="2663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1"/>
              </a:lnSpc>
            </a:pPr>
            <a:r>
              <a:rPr lang="en-US" sz="13993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CannyCore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84950" y="5736354"/>
            <a:ext cx="5318100" cy="57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CANNY EDGE DETECTION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12606" y="7574176"/>
            <a:ext cx="6628523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Echipa:</a:t>
            </a:r>
          </a:p>
          <a:p>
            <a:pPr algn="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Boncan Dragoș-Eduard-Gabriel 345C1</a:t>
            </a:r>
          </a:p>
          <a:p>
            <a:pPr algn="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Timofte Andrei-Ioan 343C1</a:t>
            </a:r>
          </a:p>
          <a:p>
            <a:pPr algn="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Ion Daniel 343C1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7796" y="-3767991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49795" y="1678607"/>
            <a:ext cx="2948680" cy="2959442"/>
          </a:xfrm>
          <a:custGeom>
            <a:avLst/>
            <a:gdLst/>
            <a:ahLst/>
            <a:cxnLst/>
            <a:rect r="r" b="b" t="t" l="l"/>
            <a:pathLst>
              <a:path h="2959442" w="2948680">
                <a:moveTo>
                  <a:pt x="0" y="0"/>
                </a:moveTo>
                <a:lnTo>
                  <a:pt x="2948680" y="0"/>
                </a:lnTo>
                <a:lnTo>
                  <a:pt x="2948680" y="2959442"/>
                </a:lnTo>
                <a:lnTo>
                  <a:pt x="0" y="2959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86508" y="-938824"/>
            <a:ext cx="4099837" cy="4114800"/>
          </a:xfrm>
          <a:custGeom>
            <a:avLst/>
            <a:gdLst/>
            <a:ahLst/>
            <a:cxnLst/>
            <a:rect r="r" b="b" t="t" l="l"/>
            <a:pathLst>
              <a:path h="4114800" w="4099837">
                <a:moveTo>
                  <a:pt x="0" y="0"/>
                </a:moveTo>
                <a:lnTo>
                  <a:pt x="4099837" y="0"/>
                </a:lnTo>
                <a:lnTo>
                  <a:pt x="4099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36200" y="9083515"/>
            <a:ext cx="2378335" cy="2387015"/>
          </a:xfrm>
          <a:custGeom>
            <a:avLst/>
            <a:gdLst/>
            <a:ahLst/>
            <a:cxnLst/>
            <a:rect r="r" b="b" t="t" l="l"/>
            <a:pathLst>
              <a:path h="2387015" w="2378335">
                <a:moveTo>
                  <a:pt x="0" y="0"/>
                </a:moveTo>
                <a:lnTo>
                  <a:pt x="2378334" y="0"/>
                </a:lnTo>
                <a:lnTo>
                  <a:pt x="2378334" y="2387015"/>
                </a:lnTo>
                <a:lnTo>
                  <a:pt x="0" y="23870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73883" y="555244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23547" y="1561795"/>
            <a:ext cx="6640906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Cuprins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46240" y="4001010"/>
            <a:ext cx="4379920" cy="7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9"/>
              </a:lnSpc>
            </a:pPr>
            <a:r>
              <a:rPr lang="en-US" sz="3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I. Varianta Serială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68414" y="5541055"/>
            <a:ext cx="6135572" cy="7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9"/>
              </a:lnSpc>
            </a:pPr>
            <a:r>
              <a:rPr lang="en-US" sz="3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II. Variante Multithreaded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8778" y="7084740"/>
            <a:ext cx="6634844" cy="7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9"/>
              </a:lnSpc>
            </a:pPr>
            <a:r>
              <a:rPr lang="en-US" sz="3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III. Varianta Multiprocessing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94552" y="4001010"/>
            <a:ext cx="4725565" cy="7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9"/>
              </a:lnSpc>
            </a:pPr>
            <a:r>
              <a:rPr lang="en-US" sz="3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IV. Variante Hibride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18477" y="5541055"/>
            <a:ext cx="5877716" cy="7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9"/>
              </a:lnSpc>
            </a:pPr>
            <a:r>
              <a:rPr lang="en-US" sz="3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V. Analiză Comparativă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94552" y="7056165"/>
            <a:ext cx="4725565" cy="7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9"/>
              </a:lnSpc>
            </a:pPr>
            <a:r>
              <a:rPr lang="en-US" sz="3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VI. Concluzii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57122" y="8617994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11917" y="-1514475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43218" y="1831423"/>
            <a:ext cx="7772581" cy="3886291"/>
          </a:xfrm>
          <a:custGeom>
            <a:avLst/>
            <a:gdLst/>
            <a:ahLst/>
            <a:cxnLst/>
            <a:rect r="r" b="b" t="t" l="l"/>
            <a:pathLst>
              <a:path h="3886291" w="7772581">
                <a:moveTo>
                  <a:pt x="0" y="0"/>
                </a:moveTo>
                <a:lnTo>
                  <a:pt x="7772581" y="0"/>
                </a:lnTo>
                <a:lnTo>
                  <a:pt x="7772581" y="3886290"/>
                </a:lnTo>
                <a:lnTo>
                  <a:pt x="0" y="38862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43218" y="5891545"/>
            <a:ext cx="7840102" cy="3920051"/>
          </a:xfrm>
          <a:custGeom>
            <a:avLst/>
            <a:gdLst/>
            <a:ahLst/>
            <a:cxnLst/>
            <a:rect r="r" b="b" t="t" l="l"/>
            <a:pathLst>
              <a:path h="3920051" w="7840102">
                <a:moveTo>
                  <a:pt x="0" y="0"/>
                </a:moveTo>
                <a:lnTo>
                  <a:pt x="7840102" y="0"/>
                </a:lnTo>
                <a:lnTo>
                  <a:pt x="7840102" y="3920051"/>
                </a:lnTo>
                <a:lnTo>
                  <a:pt x="0" y="39200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524125"/>
            <a:ext cx="9382039" cy="665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4"/>
              </a:lnSpc>
            </a:pPr>
            <a:r>
              <a:rPr lang="en-US" sz="287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Etape:</a:t>
            </a:r>
          </a:p>
          <a:p>
            <a:pPr algn="l" marL="501605" indent="-250802" lvl="1">
              <a:lnSpc>
                <a:spcPts val="3252"/>
              </a:lnSpc>
              <a:buFont typeface="Arial"/>
              <a:buChar char="•"/>
            </a:pPr>
            <a:r>
              <a:rPr lang="en-US" b="true" sz="23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Conversia Grayscale</a:t>
            </a:r>
            <a:r>
              <a:rPr lang="en-US" sz="23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Transformarea imaginii din RGB intr-o imagine cu un singur canal de intensitate</a:t>
            </a:r>
          </a:p>
          <a:p>
            <a:pPr algn="l">
              <a:lnSpc>
                <a:spcPts val="3252"/>
              </a:lnSpc>
            </a:pPr>
          </a:p>
          <a:p>
            <a:pPr algn="l" marL="501605" indent="-250802" lvl="1">
              <a:lnSpc>
                <a:spcPts val="3252"/>
              </a:lnSpc>
              <a:buFont typeface="Arial"/>
              <a:buChar char="•"/>
            </a:pPr>
            <a:r>
              <a:rPr lang="en-US" b="true" sz="23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Filtrului Gaussian</a:t>
            </a:r>
            <a:r>
              <a:rPr lang="en-US" sz="23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Reduc</a:t>
            </a:r>
            <a:r>
              <a:rPr lang="en-US" sz="23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erea zgomotului din imagine.</a:t>
            </a:r>
          </a:p>
          <a:p>
            <a:pPr algn="l">
              <a:lnSpc>
                <a:spcPts val="3252"/>
              </a:lnSpc>
            </a:pPr>
          </a:p>
          <a:p>
            <a:pPr algn="l" marL="501605" indent="-250802" lvl="1">
              <a:lnSpc>
                <a:spcPts val="3252"/>
              </a:lnSpc>
              <a:buFont typeface="Arial"/>
              <a:buChar char="•"/>
            </a:pPr>
            <a:r>
              <a:rPr lang="en-US" b="true" sz="23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Calculul Gra</a:t>
            </a:r>
            <a:r>
              <a:rPr lang="en-US" b="true" sz="23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dientului(Sobel)</a:t>
            </a:r>
            <a:r>
              <a:rPr lang="en-US" sz="23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Aplicarea a două măști de convolutie pentru a detecta intensitatea și direcția contururilor.</a:t>
            </a:r>
          </a:p>
          <a:p>
            <a:pPr algn="l">
              <a:lnSpc>
                <a:spcPts val="3252"/>
              </a:lnSpc>
            </a:pPr>
          </a:p>
          <a:p>
            <a:pPr algn="l" marL="501605" indent="-250802" lvl="1">
              <a:lnSpc>
                <a:spcPts val="3252"/>
              </a:lnSpc>
              <a:buFont typeface="Arial"/>
              <a:buChar char="•"/>
            </a:pPr>
            <a:r>
              <a:rPr lang="en-US" b="true" sz="23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Non-Max</a:t>
            </a:r>
            <a:r>
              <a:rPr lang="en-US" b="true" sz="23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imum Suppression</a:t>
            </a:r>
            <a:r>
              <a:rPr lang="en-US" sz="23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Reducerea muchiilor la o grosime de un singur pixel.</a:t>
            </a:r>
          </a:p>
          <a:p>
            <a:pPr algn="l">
              <a:lnSpc>
                <a:spcPts val="3252"/>
              </a:lnSpc>
            </a:pPr>
          </a:p>
          <a:p>
            <a:pPr algn="l" marL="501605" indent="-250802" lvl="1">
              <a:lnSpc>
                <a:spcPts val="3252"/>
              </a:lnSpc>
              <a:buFont typeface="Arial"/>
              <a:buChar char="•"/>
            </a:pPr>
            <a:r>
              <a:rPr lang="en-US" b="true" sz="23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Hysteresis Edge Tracking</a:t>
            </a:r>
            <a:r>
              <a:rPr lang="en-US" sz="23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Finalizarea detecției contururilor, păstrându-se doar pixelii weak dacă sunt conectați la un pixel strong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78907" y="220882"/>
            <a:ext cx="9910697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Canny Edge Detection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11834" y="7935593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7" y="0"/>
                </a:lnTo>
                <a:lnTo>
                  <a:pt x="49521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11917" y="-1514475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04712" y="6255521"/>
            <a:ext cx="10259087" cy="3360145"/>
          </a:xfrm>
          <a:custGeom>
            <a:avLst/>
            <a:gdLst/>
            <a:ahLst/>
            <a:cxnLst/>
            <a:rect r="r" b="b" t="t" l="l"/>
            <a:pathLst>
              <a:path h="3360145" w="10259087">
                <a:moveTo>
                  <a:pt x="0" y="0"/>
                </a:moveTo>
                <a:lnTo>
                  <a:pt x="10259087" y="0"/>
                </a:lnTo>
                <a:lnTo>
                  <a:pt x="10259087" y="3360145"/>
                </a:lnTo>
                <a:lnTo>
                  <a:pt x="0" y="33601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33" t="-9147" r="0" b="-101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29226" y="3308703"/>
            <a:ext cx="3630074" cy="2342664"/>
          </a:xfrm>
          <a:custGeom>
            <a:avLst/>
            <a:gdLst/>
            <a:ahLst/>
            <a:cxnLst/>
            <a:rect r="r" b="b" t="t" l="l"/>
            <a:pathLst>
              <a:path h="2342664" w="3630074">
                <a:moveTo>
                  <a:pt x="0" y="0"/>
                </a:moveTo>
                <a:lnTo>
                  <a:pt x="3630074" y="0"/>
                </a:lnTo>
                <a:lnTo>
                  <a:pt x="3630074" y="2342664"/>
                </a:lnTo>
                <a:lnTo>
                  <a:pt x="0" y="23426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330" t="-3904" r="-2738" b="-3215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8566" y="3308703"/>
            <a:ext cx="3563532" cy="2359098"/>
          </a:xfrm>
          <a:custGeom>
            <a:avLst/>
            <a:gdLst/>
            <a:ahLst/>
            <a:cxnLst/>
            <a:rect r="r" b="b" t="t" l="l"/>
            <a:pathLst>
              <a:path h="2359098" w="3563532">
                <a:moveTo>
                  <a:pt x="0" y="0"/>
                </a:moveTo>
                <a:lnTo>
                  <a:pt x="3563533" y="0"/>
                </a:lnTo>
                <a:lnTo>
                  <a:pt x="3563533" y="2359098"/>
                </a:lnTo>
                <a:lnTo>
                  <a:pt x="0" y="23590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36703" y="3308703"/>
            <a:ext cx="3538647" cy="2359098"/>
          </a:xfrm>
          <a:custGeom>
            <a:avLst/>
            <a:gdLst/>
            <a:ahLst/>
            <a:cxnLst/>
            <a:rect r="r" b="b" t="t" l="l"/>
            <a:pathLst>
              <a:path h="2359098" w="3538647">
                <a:moveTo>
                  <a:pt x="0" y="0"/>
                </a:moveTo>
                <a:lnTo>
                  <a:pt x="3538647" y="0"/>
                </a:lnTo>
                <a:lnTo>
                  <a:pt x="3538647" y="2359098"/>
                </a:lnTo>
                <a:lnTo>
                  <a:pt x="0" y="23590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156" t="-2612" r="-1691" b="-822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245949" y="3852210"/>
            <a:ext cx="1900089" cy="1398666"/>
            <a:chOff x="0" y="0"/>
            <a:chExt cx="812800" cy="5983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598306"/>
            </a:xfrm>
            <a:custGeom>
              <a:avLst/>
              <a:gdLst/>
              <a:ahLst/>
              <a:cxnLst/>
              <a:rect r="r" b="b" t="t" l="l"/>
              <a:pathLst>
                <a:path h="598306" w="812800">
                  <a:moveTo>
                    <a:pt x="812800" y="299153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95106"/>
                  </a:lnTo>
                  <a:lnTo>
                    <a:pt x="406400" y="395106"/>
                  </a:lnTo>
                  <a:lnTo>
                    <a:pt x="406400" y="598306"/>
                  </a:lnTo>
                  <a:lnTo>
                    <a:pt x="812800" y="299153"/>
                  </a:lnTo>
                  <a:close/>
                </a:path>
              </a:pathLst>
            </a:custGeom>
            <a:solidFill>
              <a:srgbClr val="76A3D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65100"/>
              <a:ext cx="711200" cy="230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SOBEL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271913" y="3622232"/>
            <a:ext cx="2205456" cy="1732041"/>
            <a:chOff x="0" y="0"/>
            <a:chExt cx="943426" cy="7409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3427" cy="740914"/>
            </a:xfrm>
            <a:custGeom>
              <a:avLst/>
              <a:gdLst/>
              <a:ahLst/>
              <a:cxnLst/>
              <a:rect r="r" b="b" t="t" l="l"/>
              <a:pathLst>
                <a:path h="740914" w="943427">
                  <a:moveTo>
                    <a:pt x="943427" y="370457"/>
                  </a:moveTo>
                  <a:lnTo>
                    <a:pt x="537026" y="0"/>
                  </a:lnTo>
                  <a:lnTo>
                    <a:pt x="537026" y="203200"/>
                  </a:lnTo>
                  <a:lnTo>
                    <a:pt x="0" y="203200"/>
                  </a:lnTo>
                  <a:lnTo>
                    <a:pt x="0" y="537714"/>
                  </a:lnTo>
                  <a:lnTo>
                    <a:pt x="537026" y="537714"/>
                  </a:lnTo>
                  <a:lnTo>
                    <a:pt x="537026" y="740914"/>
                  </a:lnTo>
                  <a:lnTo>
                    <a:pt x="943427" y="370457"/>
                  </a:lnTo>
                  <a:close/>
                </a:path>
              </a:pathLst>
            </a:custGeom>
            <a:solidFill>
              <a:srgbClr val="76A3D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65100"/>
              <a:ext cx="841826" cy="372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NON-MAXIMUM SUPPRESSION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278907" y="220882"/>
            <a:ext cx="9910697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Canny Edge Detection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75864" y="6717358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6" y="0"/>
                </a:lnTo>
                <a:lnTo>
                  <a:pt x="4609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71625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48969" y="-1664108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6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6" y="4114800"/>
                </a:lnTo>
                <a:lnTo>
                  <a:pt x="46092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09558" y="2220161"/>
            <a:ext cx="5467734" cy="5905915"/>
          </a:xfrm>
          <a:custGeom>
            <a:avLst/>
            <a:gdLst/>
            <a:ahLst/>
            <a:cxnLst/>
            <a:rect r="r" b="b" t="t" l="l"/>
            <a:pathLst>
              <a:path h="5905915" w="5467734">
                <a:moveTo>
                  <a:pt x="0" y="0"/>
                </a:moveTo>
                <a:lnTo>
                  <a:pt x="5467734" y="0"/>
                </a:lnTo>
                <a:lnTo>
                  <a:pt x="5467734" y="5905915"/>
                </a:lnTo>
                <a:lnTo>
                  <a:pt x="0" y="59059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7519" y="268707"/>
            <a:ext cx="9831908" cy="93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1"/>
              </a:lnSpc>
            </a:pPr>
            <a:r>
              <a:rPr lang="en-US" b="true" sz="6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Profiling algoritm serial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37043" y="2389973"/>
            <a:ext cx="8653627" cy="558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95"/>
              </a:lnSpc>
            </a:pPr>
            <a:r>
              <a:rPr lang="en-US" sz="28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82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dentificarea Hotspot-urilor:</a:t>
            </a:r>
          </a:p>
          <a:p>
            <a:pPr algn="just">
              <a:lnSpc>
                <a:spcPts val="2585"/>
              </a:lnSpc>
            </a:pPr>
          </a:p>
          <a:p>
            <a:pPr algn="just" marL="494085" indent="-247042" lvl="1">
              <a:lnSpc>
                <a:spcPts val="2585"/>
              </a:lnSpc>
              <a:buFont typeface="Arial"/>
              <a:buChar char="•"/>
            </a:pPr>
            <a:r>
              <a:rPr lang="en-US" b="true" sz="228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Tool folosit</a:t>
            </a:r>
            <a:r>
              <a:rPr lang="en-US" sz="228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Intel VTune Profiler</a:t>
            </a:r>
          </a:p>
          <a:p>
            <a:pPr algn="just" marL="494085" indent="-247042" lvl="1">
              <a:lnSpc>
                <a:spcPts val="2585"/>
              </a:lnSpc>
              <a:buFont typeface="Arial"/>
              <a:buChar char="•"/>
            </a:pPr>
            <a:r>
              <a:rPr lang="en-US" b="true" sz="228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Baseline de Performanță:</a:t>
            </a:r>
            <a:r>
              <a:rPr lang="en-US" sz="228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Timp total 9.98s. Aceasta este valoarea de referință (T_serial) folosită pentru a calcula accelerarea (Speedup) celorlalte variante.</a:t>
            </a:r>
          </a:p>
          <a:p>
            <a:pPr algn="just" marL="494085" indent="-247042" lvl="1">
              <a:lnSpc>
                <a:spcPts val="2585"/>
              </a:lnSpc>
              <a:buFont typeface="Arial"/>
              <a:buChar char="•"/>
            </a:pPr>
            <a:r>
              <a:rPr lang="en-US" b="true" sz="228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Bottleneck Principal:</a:t>
            </a:r>
            <a:r>
              <a:rPr lang="en-US" sz="228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Funcția Image::gaussianBlur este responsabilă pentru 48.6% din timp. În varianta serială, aceasta este pur "CPU Bound" (limitată strict de frecvența procesorului).</a:t>
            </a:r>
          </a:p>
          <a:p>
            <a:pPr algn="just" marL="494085" indent="-247042" lvl="1">
              <a:lnSpc>
                <a:spcPts val="2585"/>
              </a:lnSpc>
              <a:buFont typeface="Arial"/>
              <a:buChar char="•"/>
            </a:pPr>
            <a:r>
              <a:rPr lang="en-US" b="true" sz="228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Structura Costurilor:</a:t>
            </a:r>
            <a:r>
              <a:rPr lang="en-US" sz="228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Următoarele funcții consumatoare sunt sobelGradient (10.0%) și funcția matematică atan2f (9.2%).</a:t>
            </a:r>
          </a:p>
          <a:p>
            <a:pPr algn="just" marL="494085" indent="-247042" lvl="1">
              <a:lnSpc>
                <a:spcPts val="2585"/>
              </a:lnSpc>
              <a:buFont typeface="Arial"/>
              <a:buChar char="•"/>
            </a:pPr>
            <a:r>
              <a:rPr lang="en-US" b="true" sz="228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Lipsa Overhead-ului</a:t>
            </a:r>
            <a:r>
              <a:rPr lang="en-US" sz="228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În cazul algoritmului serial nu apar funcții de sistem (comunicare rețea, creare thread-uri), deci tot timpul procesorului este dedicat logicii algoritmului.</a:t>
            </a:r>
          </a:p>
          <a:p>
            <a:pPr algn="just">
              <a:lnSpc>
                <a:spcPts val="258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5442" y="7511756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7" y="0"/>
                </a:lnTo>
                <a:lnTo>
                  <a:pt x="49521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-460057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72520" y="1144663"/>
            <a:ext cx="8542961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Varianta Pthreads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783217" y="-964573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1500" y="2841372"/>
            <a:ext cx="8355484" cy="603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              Inovații &amp; Diferențe:</a:t>
            </a:r>
          </a:p>
          <a:p>
            <a:pPr algn="l">
              <a:lnSpc>
                <a:spcPts val="3833"/>
              </a:lnSpc>
            </a:pPr>
          </a:p>
          <a:p>
            <a:pPr algn="l" marL="559180" indent="-279590" lvl="1">
              <a:lnSpc>
                <a:spcPts val="3833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 Parallelism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Procesare pe benzi orizontale per thread.</a:t>
            </a:r>
          </a:p>
          <a:p>
            <a:pPr algn="l" marL="559180" indent="-279590" lvl="1">
              <a:lnSpc>
                <a:spcPts val="3833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Structuri dedicate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Argumente împachetate pentru funcțiile void*.</a:t>
            </a:r>
          </a:p>
          <a:p>
            <a:pPr algn="l" marL="559180" indent="-279590" lvl="1">
              <a:lnSpc>
                <a:spcPts val="3833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Sincronizare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Bariere pthread_join între etapele majore.</a:t>
            </a:r>
          </a:p>
          <a:p>
            <a:pPr algn="l" marL="559180" indent="-279590" lvl="1">
              <a:lnSpc>
                <a:spcPts val="3833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Hysteresis Hibrid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Thresholding paralel, dar tracking (DFS) secvențial.</a:t>
            </a:r>
          </a:p>
          <a:p>
            <a:pPr algn="ctr">
              <a:lnSpc>
                <a:spcPts val="9053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748722" y="2841372"/>
            <a:ext cx="8188602" cy="11038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Probleme întâmpinate:</a:t>
            </a:r>
          </a:p>
          <a:p>
            <a:pPr algn="l">
              <a:lnSpc>
                <a:spcPts val="3833"/>
              </a:lnSpc>
            </a:pPr>
          </a:p>
          <a:p>
            <a:pPr algn="l" marL="559180" indent="-279590" lvl="1">
              <a:lnSpc>
                <a:spcPts val="3833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Limitare Amdahl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Hysteresis rămâne secvențial (DFS recursiv).</a:t>
            </a:r>
          </a:p>
          <a:p>
            <a:pPr algn="l" marL="559180" indent="-279590" lvl="1">
              <a:lnSpc>
                <a:spcPts val="3833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Gestionare Indici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Calcul manual complex pentru limite și margini.</a:t>
            </a:r>
          </a:p>
          <a:p>
            <a:pPr algn="l" marL="559180" indent="-279590" lvl="1">
              <a:lnSpc>
                <a:spcPts val="3833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Overhead Thread-uri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Lansare și unire repetată per etapă.</a:t>
            </a:r>
          </a:p>
          <a:p>
            <a:pPr algn="l" marL="559180" indent="-279590" lvl="1">
              <a:lnSpc>
                <a:spcPts val="3833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Lipsă SIMD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Procesare scalară, fără vectorizare (AVX/SSE).</a:t>
            </a:r>
          </a:p>
          <a:p>
            <a:pPr algn="l">
              <a:lnSpc>
                <a:spcPts val="4855"/>
              </a:lnSpc>
            </a:pPr>
          </a:p>
          <a:p>
            <a:pPr algn="l">
              <a:lnSpc>
                <a:spcPts val="4855"/>
              </a:lnSpc>
            </a:pPr>
          </a:p>
          <a:p>
            <a:pPr algn="ctr">
              <a:lnSpc>
                <a:spcPts val="4855"/>
              </a:lnSpc>
            </a:pPr>
          </a:p>
          <a:p>
            <a:pPr algn="ctr">
              <a:lnSpc>
                <a:spcPts val="4855"/>
              </a:lnSpc>
            </a:pPr>
          </a:p>
          <a:p>
            <a:pPr algn="ctr">
              <a:lnSpc>
                <a:spcPts val="4855"/>
              </a:lnSpc>
            </a:pPr>
          </a:p>
          <a:p>
            <a:pPr algn="ctr">
              <a:lnSpc>
                <a:spcPts val="4855"/>
              </a:lnSpc>
            </a:pPr>
          </a:p>
          <a:p>
            <a:pPr algn="ctr">
              <a:lnSpc>
                <a:spcPts val="4855"/>
              </a:lnSpc>
            </a:pPr>
          </a:p>
          <a:p>
            <a:pPr algn="ctr">
              <a:lnSpc>
                <a:spcPts val="4855"/>
              </a:lnSpc>
            </a:pPr>
          </a:p>
          <a:p>
            <a:pPr algn="ctr">
              <a:lnSpc>
                <a:spcPts val="4855"/>
              </a:lnSpc>
            </a:pPr>
          </a:p>
          <a:p>
            <a:pPr algn="ctr">
              <a:lnSpc>
                <a:spcPts val="4855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051969" y="8061627"/>
            <a:ext cx="13393507" cy="1172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Flux de date:</a:t>
            </a:r>
          </a:p>
          <a:p>
            <a:pPr algn="ctr">
              <a:lnSpc>
                <a:spcPts val="4736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Memorie Partajată (RAM) -&gt; Procesare Paralelă (CPU) -&gt; Sincronizare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75864" y="6717358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6" y="0"/>
                </a:lnTo>
                <a:lnTo>
                  <a:pt x="4609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71625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48969" y="-1664108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6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6" y="4114800"/>
                </a:lnTo>
                <a:lnTo>
                  <a:pt x="46092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3174" y="1452156"/>
            <a:ext cx="8183853" cy="3691344"/>
          </a:xfrm>
          <a:custGeom>
            <a:avLst/>
            <a:gdLst/>
            <a:ahLst/>
            <a:cxnLst/>
            <a:rect r="r" b="b" t="t" l="l"/>
            <a:pathLst>
              <a:path h="3691344" w="8183853">
                <a:moveTo>
                  <a:pt x="0" y="0"/>
                </a:moveTo>
                <a:lnTo>
                  <a:pt x="8183852" y="0"/>
                </a:lnTo>
                <a:lnTo>
                  <a:pt x="8183852" y="3691344"/>
                </a:lnTo>
                <a:lnTo>
                  <a:pt x="0" y="36913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27026" y="5989676"/>
            <a:ext cx="9426549" cy="3927729"/>
          </a:xfrm>
          <a:custGeom>
            <a:avLst/>
            <a:gdLst/>
            <a:ahLst/>
            <a:cxnLst/>
            <a:rect r="r" b="b" t="t" l="l"/>
            <a:pathLst>
              <a:path h="3927729" w="9426549">
                <a:moveTo>
                  <a:pt x="0" y="0"/>
                </a:moveTo>
                <a:lnTo>
                  <a:pt x="9426549" y="0"/>
                </a:lnTo>
                <a:lnTo>
                  <a:pt x="9426549" y="3927729"/>
                </a:lnTo>
                <a:lnTo>
                  <a:pt x="0" y="3927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7519" y="268707"/>
            <a:ext cx="7365115" cy="93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1"/>
              </a:lnSpc>
            </a:pPr>
            <a:r>
              <a:rPr lang="en-US" b="true" sz="6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Profiling Pthreads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27026" y="895385"/>
            <a:ext cx="9426549" cy="5293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dentificarea Hotspot-urilor:</a:t>
            </a:r>
          </a:p>
          <a:p>
            <a:pPr algn="l">
              <a:lnSpc>
                <a:spcPts val="2926"/>
              </a:lnSpc>
            </a:pP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Tool folosit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Intel VTune Profiler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Bottleneck principal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Funcția threadBlur este responsabilă pentru 57% din timpul total de procesare (10.37 secunde pe CPU).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Procesare Gradient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Etapa threadSobel consumă 15.4% din resurse.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Cost Matematic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Funcția de bibliotecă atan2f (calculul direcției gradientului) ocupă un surprinzător 7.4%, fiind a treia cea mai costisitoare operație.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I/O și Compresie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Scrierea imaginii are un impact minor (4.0%).</a:t>
            </a:r>
          </a:p>
          <a:p>
            <a:pPr algn="ctr">
              <a:lnSpc>
                <a:spcPts val="2926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33375" y="5495925"/>
            <a:ext cx="8055373" cy="4863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Performanțe hardware:</a:t>
            </a:r>
          </a:p>
          <a:p>
            <a:pPr algn="just">
              <a:lnSpc>
                <a:spcPts val="2711"/>
              </a:lnSpc>
            </a:pPr>
          </a:p>
          <a:p>
            <a:pPr algn="just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Tool folosit: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perf rulat pe xl</a:t>
            </a:r>
          </a:p>
          <a:p>
            <a:pPr algn="just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Costul Paralelizării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La imagini mari, efortul de coordonare a thread-urilor se cumulează, crescând numărul total de cicli executați.</a:t>
            </a:r>
          </a:p>
          <a:p>
            <a:pPr algn="just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Anomalia Frecvenței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La imagini mici, ciclurile scad artificial din cauza reducerii frecvenței CPU și a stărilor de repaus (sleep).</a:t>
            </a:r>
          </a:p>
          <a:p>
            <a:pPr algn="just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Predictibilitate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Sarcina infimă per thread la imagini mici simplifică drastic predicția ramurilor, eliminând aproape total erorile (misses).</a:t>
            </a:r>
          </a:p>
          <a:p>
            <a:pPr algn="just">
              <a:lnSpc>
                <a:spcPts val="271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919534">
            <a:off x="2887389" y="7372737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17041" y="419100"/>
            <a:ext cx="8253917" cy="93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1"/>
              </a:lnSpc>
            </a:pPr>
            <a:r>
              <a:rPr lang="en-US" b="true" sz="6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Rezultate Pthreads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7746122">
            <a:off x="15828199" y="5504693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057650" y="-119650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37247" y="-369386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8914" y="1524000"/>
            <a:ext cx="8565086" cy="4282543"/>
          </a:xfrm>
          <a:custGeom>
            <a:avLst/>
            <a:gdLst/>
            <a:ahLst/>
            <a:cxnLst/>
            <a:rect r="r" b="b" t="t" l="l"/>
            <a:pathLst>
              <a:path h="4282543" w="8565086">
                <a:moveTo>
                  <a:pt x="0" y="0"/>
                </a:moveTo>
                <a:lnTo>
                  <a:pt x="8565086" y="0"/>
                </a:lnTo>
                <a:lnTo>
                  <a:pt x="8565086" y="4282543"/>
                </a:lnTo>
                <a:lnTo>
                  <a:pt x="0" y="42825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99584" y="4778712"/>
            <a:ext cx="8132996" cy="5181446"/>
          </a:xfrm>
          <a:custGeom>
            <a:avLst/>
            <a:gdLst/>
            <a:ahLst/>
            <a:cxnLst/>
            <a:rect r="r" b="b" t="t" l="l"/>
            <a:pathLst>
              <a:path h="5181446" w="8132996">
                <a:moveTo>
                  <a:pt x="0" y="0"/>
                </a:moveTo>
                <a:lnTo>
                  <a:pt x="8132997" y="0"/>
                </a:lnTo>
                <a:lnTo>
                  <a:pt x="8132997" y="5181445"/>
                </a:lnTo>
                <a:lnTo>
                  <a:pt x="0" y="51814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27" t="0" r="-827" b="-251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551762" y="1543050"/>
            <a:ext cx="8406089" cy="3064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Scalabilitate Sub-liniară:</a:t>
            </a:r>
          </a:p>
          <a:p>
            <a:pPr algn="l" marL="559180" indent="-279590" lvl="1">
              <a:lnSpc>
                <a:spcPts val="2926"/>
              </a:lnSpc>
              <a:spcBef>
                <a:spcPct val="0"/>
              </a:spcBef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Observăm o accelerare bună până la 4 thread-uri (~2.7x - 2.8x).</a:t>
            </a:r>
          </a:p>
          <a:p>
            <a:pPr algn="l" marL="559180" indent="-279590" lvl="1">
              <a:lnSpc>
                <a:spcPts val="2926"/>
              </a:lnSpc>
              <a:spcBef>
                <a:spcPct val="0"/>
              </a:spcBef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 8 thread-uri, curba se plafonează (saturație), atingând un maxim de 3.42</a:t>
            </a:r>
          </a:p>
          <a:p>
            <a:pPr algn="l" marL="559180" indent="-279590" lvl="1">
              <a:lnSpc>
                <a:spcPts val="2926"/>
              </a:lnSpc>
              <a:spcBef>
                <a:spcPct val="0"/>
              </a:spcBef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 cât este mai mare poza, cu atât speedup-ul este mai bun. Acest lucru este datorat păstrării aceluiași overhead pentru mai mult lucru.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950" y="6305550"/>
            <a:ext cx="8616167" cy="3807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Rezultatul Optim: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Speedup: 3.42x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Configurație: 8 Thread-uri pentru poză de rezoluție 5472x3648 pixeli.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Concluzie: Eficiența maximă nu este la rezoluția cea mai mare, ci acolo unde datele încap cel mai bine în cache-ul procesorului, minimizând accesul la RAM.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Eficiență maximă de 94% pentru 2 threaduri pentru 1_earth_8k (8192x4096)</a:t>
            </a:r>
          </a:p>
          <a:p>
            <a:pPr algn="l">
              <a:lnSpc>
                <a:spcPts val="292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11976" y="7789570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-460057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07927" y="749640"/>
            <a:ext cx="8542961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Varianta OpenMP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783217" y="-964573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6250" y="2781300"/>
            <a:ext cx="8115300" cy="5664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Inovații &amp; Diferențe:</a:t>
            </a:r>
          </a:p>
          <a:p>
            <a:pPr algn="l">
              <a:lnSpc>
                <a:spcPts val="2926"/>
              </a:lnSpc>
            </a:pP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Abstractizare Înaltă: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Utilizarea directivelor #pragma omp parallel for elimină complet codul "boilerplate" (creare/join manual de thread-uri).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Automatic Scheduling: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Distribuția automată a iterațiilor (loop chunks) pe nuclee, eliminând calculul manual de indici (hStart, hEnd).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Structură Simplificată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Nu mai sunt necesare structuri auxiliare (struct Args) pentru împachetarea argumentelor funcțiilor.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Sincronizare Implicită: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Bariere automate la finalul fiecărei regiuni paralele (nu necesită apeluri explicite de join între etape).</a:t>
            </a:r>
          </a:p>
          <a:p>
            <a:pPr algn="l">
              <a:lnSpc>
                <a:spcPts val="2926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525000" y="2781300"/>
            <a:ext cx="8279893" cy="5752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Probleme întâmpinate:</a:t>
            </a:r>
          </a:p>
          <a:p>
            <a:pPr algn="l">
              <a:lnSpc>
                <a:spcPts val="2926"/>
              </a:lnSpc>
              <a:spcBef>
                <a:spcPct val="0"/>
              </a:spcBef>
            </a:pPr>
          </a:p>
          <a:p>
            <a:pPr algn="l" marL="559180" indent="-279590" lvl="1">
              <a:lnSpc>
                <a:spcPts val="292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Limitare Amdahl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Tracking-ul muchiilor (DFS recursiv) rămâne un bottleneck secvențial (dificil de paralelizat eficient doar cu #pragma).</a:t>
            </a:r>
          </a:p>
          <a:p>
            <a:pPr algn="l" marL="559180" indent="-279590" lvl="1">
              <a:lnSpc>
                <a:spcPts val="292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Overhead Fork-Join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Costul repetat de creare și distrugere a echipelor de thread-uri pentru fiecare funcție din pipeline (Sobel, NMS, Threshold).</a:t>
            </a:r>
          </a:p>
          <a:p>
            <a:pPr algn="l" marL="559180" indent="-279590" lvl="1">
              <a:lnSpc>
                <a:spcPts val="292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Granularitate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Dacă "chunks" sunt prea mici (scheduling dinamic excesiv), overhead-ul de management depășește câștigul de viteză.</a:t>
            </a:r>
          </a:p>
          <a:p>
            <a:pPr algn="l" marL="559180" indent="-279590" lvl="1">
              <a:lnSpc>
                <a:spcPts val="292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Control Fin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Mai puțin control asupra afinității thread-urilor comparativ cu Pthreads (risc de cache thrashing în scenarii specifice).</a:t>
            </a:r>
          </a:p>
          <a:p>
            <a:pPr algn="l">
              <a:lnSpc>
                <a:spcPts val="3616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465972"/>
            <a:ext cx="16230600" cy="1380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Flux de date:</a:t>
            </a:r>
          </a:p>
          <a:p>
            <a:pPr algn="ctr">
              <a:lnSpc>
                <a:spcPts val="3616"/>
              </a:lnSpc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Master Thread -&gt; Fork -&gt; Procesare Paralelă -&gt; Join (Implicit Barrier)</a:t>
            </a:r>
          </a:p>
          <a:p>
            <a:pPr algn="ctr">
              <a:lnSpc>
                <a:spcPts val="36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80546" y="7029494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6" y="0"/>
                </a:lnTo>
                <a:lnTo>
                  <a:pt x="4609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71625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148350" y="-1104900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7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7" y="4114800"/>
                </a:lnTo>
                <a:lnTo>
                  <a:pt x="46092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1581" y="1428750"/>
            <a:ext cx="5976669" cy="4288404"/>
          </a:xfrm>
          <a:custGeom>
            <a:avLst/>
            <a:gdLst/>
            <a:ahLst/>
            <a:cxnLst/>
            <a:rect r="r" b="b" t="t" l="l"/>
            <a:pathLst>
              <a:path h="4288404" w="5976669">
                <a:moveTo>
                  <a:pt x="0" y="0"/>
                </a:moveTo>
                <a:lnTo>
                  <a:pt x="5976669" y="0"/>
                </a:lnTo>
                <a:lnTo>
                  <a:pt x="5976669" y="4288404"/>
                </a:lnTo>
                <a:lnTo>
                  <a:pt x="0" y="42884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83759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36651" y="6492367"/>
            <a:ext cx="9065702" cy="3234536"/>
          </a:xfrm>
          <a:custGeom>
            <a:avLst/>
            <a:gdLst/>
            <a:ahLst/>
            <a:cxnLst/>
            <a:rect r="r" b="b" t="t" l="l"/>
            <a:pathLst>
              <a:path h="3234536" w="9065702">
                <a:moveTo>
                  <a:pt x="0" y="0"/>
                </a:moveTo>
                <a:lnTo>
                  <a:pt x="9065702" y="0"/>
                </a:lnTo>
                <a:lnTo>
                  <a:pt x="9065702" y="3234536"/>
                </a:lnTo>
                <a:lnTo>
                  <a:pt x="0" y="32345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729" t="-737" r="0" b="-73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09625" y="371475"/>
            <a:ext cx="7365115" cy="93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1"/>
              </a:lnSpc>
            </a:pPr>
            <a:r>
              <a:rPr lang="en-US" b="true" sz="6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Profiling OpenMP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83206" y="971550"/>
            <a:ext cx="11229838" cy="5235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Analiză Cantitativă (Hotspots &amp; Timpi)</a:t>
            </a:r>
          </a:p>
          <a:p>
            <a:pPr algn="l">
              <a:lnSpc>
                <a:spcPts val="2711"/>
              </a:lnSpc>
            </a:pP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Tool folosit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Intel VTune Profiler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Identificarea Bottleneck-ului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Funcția gaussianBlur este consumatorul principal (57.3% din CPU Time), fiind candidatul ideal pentru optimizare paralelă pe imaginea 8K (~33MP).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Eficiența Paralelizării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Diferența dintre CPU Time (21.08s) și Elapsed Time (5.60s) confirmă că efortul total de calcul a fost împărțit simultan între nuclee, reducând durata reală de așteptare de aproape 4 ori.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Impactul Secunda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r: Funcții precum sobelGradient contribuie cu 10.7%, restul timpului fiind distribuit pe funcții auxiliare sau secvențiale, inclusiv citirea și salvarea pozei.</a:t>
            </a:r>
          </a:p>
          <a:p>
            <a:pPr algn="l">
              <a:lnSpc>
                <a:spcPts val="2711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85864" y="6067425"/>
            <a:ext cx="8250787" cy="4492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Analiză Vizuală (Thread Timeline)</a:t>
            </a:r>
          </a:p>
          <a:p>
            <a:pPr algn="l">
              <a:lnSpc>
                <a:spcPts val="2711"/>
              </a:lnSpc>
            </a:pP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Activitate: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Verde indică execuția efectivă, iar Maro reprezintă timpii de așteptare (Overhead) și zonele seriale.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Load Balancing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Lungimile egale ale benzilor verzi confirmă distribuția uniformă a sarcinii pe cele 8 thread-uri.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Sincronizare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Graficul evidențiază clar momentele de aliniere (barierele) la intrarea și ieșirea din paralelism.</a:t>
            </a:r>
          </a:p>
          <a:p>
            <a:pPr algn="l">
              <a:lnSpc>
                <a:spcPts val="271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21255">
            <a:off x="1015271" y="7448721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26895" y="401881"/>
            <a:ext cx="8253917" cy="93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1"/>
              </a:lnSpc>
            </a:pPr>
            <a:r>
              <a:rPr lang="en-US" b="true" sz="6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Rezultate OpenMP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8562491">
            <a:off x="16814520" y="4702188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057650" y="-119650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37247" y="-369386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647720" y="4777618"/>
            <a:ext cx="8005446" cy="5143499"/>
          </a:xfrm>
          <a:custGeom>
            <a:avLst/>
            <a:gdLst/>
            <a:ahLst/>
            <a:cxnLst/>
            <a:rect r="r" b="b" t="t" l="l"/>
            <a:pathLst>
              <a:path h="5143499" w="8005446">
                <a:moveTo>
                  <a:pt x="0" y="0"/>
                </a:moveTo>
                <a:lnTo>
                  <a:pt x="8005446" y="0"/>
                </a:lnTo>
                <a:lnTo>
                  <a:pt x="8005446" y="5143499"/>
                </a:lnTo>
                <a:lnTo>
                  <a:pt x="0" y="51434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7015" y="1749362"/>
            <a:ext cx="8506985" cy="4253493"/>
          </a:xfrm>
          <a:custGeom>
            <a:avLst/>
            <a:gdLst/>
            <a:ahLst/>
            <a:cxnLst/>
            <a:rect r="r" b="b" t="t" l="l"/>
            <a:pathLst>
              <a:path h="4253493" w="8506985">
                <a:moveTo>
                  <a:pt x="0" y="0"/>
                </a:moveTo>
                <a:lnTo>
                  <a:pt x="8506985" y="0"/>
                </a:lnTo>
                <a:lnTo>
                  <a:pt x="8506985" y="4253492"/>
                </a:lnTo>
                <a:lnTo>
                  <a:pt x="0" y="42534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253854" y="4695952"/>
            <a:ext cx="8793178" cy="93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1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203204" y="1447800"/>
            <a:ext cx="8443982" cy="3607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Scalabilitate &amp; Overhead:</a:t>
            </a:r>
          </a:p>
          <a:p>
            <a:pPr algn="ctr">
              <a:lnSpc>
                <a:spcPts val="1355"/>
              </a:lnSpc>
            </a:pP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Plafonare la 4 Thread-uri: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Creșterea de performanță este solidă până la 4 nuclee (~2.9x), dar curba se aplatizează mai devreme decât la Pthreads.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 8 thread-uri, câștigul este marginal sau chiar negativ în unele cazuri (ex: 4928px scade de la 2.55 la 2.52).</a:t>
            </a:r>
          </a:p>
          <a:p>
            <a:pPr algn="l">
              <a:lnSpc>
                <a:spcPts val="2926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35008" y="6448425"/>
            <a:ext cx="8968196" cy="3235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Rezultat Maxim:</a:t>
            </a:r>
          </a:p>
          <a:p>
            <a:pPr algn="ctr">
              <a:lnSpc>
                <a:spcPts val="1355"/>
              </a:lnSpc>
            </a:pP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2.97x (la 612x408 px)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Variația performanței între rezoluții este mai mică, sugerând un scheduling intern robust, dar conservator.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OpenMP favorizează simplitatea codului în detrimentul controlului fin al performanței absolute.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Eficiență maximă de 89% pentru 2 threaduri.</a:t>
            </a:r>
          </a:p>
          <a:p>
            <a:pPr algn="l">
              <a:lnSpc>
                <a:spcPts val="292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28186" y="7200900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-460057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03423" y="3159752"/>
            <a:ext cx="7338192" cy="406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Inovații &amp; Diferențe:</a:t>
            </a:r>
          </a:p>
          <a:p>
            <a:pPr algn="ctr">
              <a:lnSpc>
                <a:spcPts val="2520"/>
              </a:lnSpc>
            </a:pP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</a:t>
            </a: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apare directă 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 thread / pixel</a:t>
            </a: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Kerneluri dedicate 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per etapă</a:t>
            </a: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Shared memory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pentru procesarea kernelului Gaussian</a:t>
            </a: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Eliminarea recursivității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în etapa de hysteresis</a:t>
            </a: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Procesare integrală 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pipeline-ului pe GPU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72520" y="1358634"/>
            <a:ext cx="8542961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Varianta CUDA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783217" y="-964573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769453" y="3159752"/>
            <a:ext cx="7489847" cy="4469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Probleme întâmpinate:</a:t>
            </a:r>
          </a:p>
          <a:p>
            <a:pPr algn="ctr">
              <a:lnSpc>
                <a:spcPts val="2100"/>
              </a:lnSpc>
            </a:pP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Hysteresis pe GPU, 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implementarea unui mecanism de promovare a muchiilor weak fără recursivitate</a:t>
            </a: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Memory management, 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alocarea și eliberarea datelor de pe CPU &amp; GPU</a:t>
            </a: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Limitări shared memory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în cazul nostru procesarea filtrului Gaussian este destul de lightweight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88305" y="7786851"/>
            <a:ext cx="11694912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Flux Date: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CPU (load &amp; transfer) → GPU (procesare date) → CPU (final)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16433" y="7707733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6" y="0"/>
                </a:lnTo>
                <a:lnTo>
                  <a:pt x="4609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71625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954677" y="-1028700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6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6" y="4114800"/>
                </a:lnTo>
                <a:lnTo>
                  <a:pt x="46092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99686" y="1775913"/>
            <a:ext cx="9570408" cy="6735174"/>
          </a:xfrm>
          <a:custGeom>
            <a:avLst/>
            <a:gdLst/>
            <a:ahLst/>
            <a:cxnLst/>
            <a:rect r="r" b="b" t="t" l="l"/>
            <a:pathLst>
              <a:path h="6735174" w="9570408">
                <a:moveTo>
                  <a:pt x="0" y="0"/>
                </a:moveTo>
                <a:lnTo>
                  <a:pt x="9570408" y="0"/>
                </a:lnTo>
                <a:lnTo>
                  <a:pt x="9570408" y="6735174"/>
                </a:lnTo>
                <a:lnTo>
                  <a:pt x="0" y="67351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88556" y="842717"/>
            <a:ext cx="6709737" cy="93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1"/>
              </a:lnSpc>
            </a:pPr>
            <a:r>
              <a:rPr lang="en-US" b="true" sz="6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Profiling CUDA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8355" y="2677812"/>
            <a:ext cx="6930141" cy="522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7623" indent="-318812" lvl="1">
              <a:lnSpc>
                <a:spcPts val="4134"/>
              </a:lnSpc>
              <a:buFont typeface="Arial"/>
              <a:buChar char="•"/>
            </a:pPr>
            <a:r>
              <a:rPr lang="en-US" b="true" sz="29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Tool folosit</a:t>
            </a:r>
            <a:r>
              <a:rPr lang="en-US" sz="29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Nsight Compute pe un RTX 2000 ADA Gen</a:t>
            </a:r>
          </a:p>
          <a:p>
            <a:pPr algn="l" marL="637623" indent="-318812" lvl="1">
              <a:lnSpc>
                <a:spcPts val="4134"/>
              </a:lnSpc>
              <a:buFont typeface="Arial"/>
              <a:buChar char="•"/>
            </a:pPr>
            <a:r>
              <a:rPr lang="en-US" b="true" sz="29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Eficiență maximă</a:t>
            </a:r>
            <a:r>
              <a:rPr lang="en-US" sz="29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atinsă de filtrul Gaussian, 99.18% Throughput</a:t>
            </a:r>
          </a:p>
          <a:p>
            <a:pPr algn="l" marL="637623" indent="-318812" lvl="1">
              <a:lnSpc>
                <a:spcPts val="4134"/>
              </a:lnSpc>
              <a:buFont typeface="Arial"/>
              <a:buChar char="•"/>
            </a:pPr>
            <a:r>
              <a:rPr lang="en-US" sz="29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Hysteresis &amp; Sobel </a:t>
            </a:r>
            <a:r>
              <a:rPr lang="en-US" b="true" sz="29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sunt limitate de natura lor algoritmică</a:t>
            </a:r>
            <a:r>
              <a:rPr lang="en-US" sz="29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(multe ramificări logice)</a:t>
            </a:r>
          </a:p>
          <a:p>
            <a:pPr algn="l" marL="637623" indent="-318812" lvl="1">
              <a:lnSpc>
                <a:spcPts val="4134"/>
              </a:lnSpc>
              <a:buFont typeface="Arial"/>
              <a:buChar char="•"/>
            </a:pPr>
            <a:r>
              <a:rPr lang="en-US" b="true" sz="29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NMS</a:t>
            </a:r>
            <a:r>
              <a:rPr lang="en-US" sz="29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prezintă cele mai complexe calcule per pixel, 88.9% Compute Throughput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99686" y="8618220"/>
            <a:ext cx="6554991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Complexitate Spațială: 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O(H x W)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Complexitate Temporală: 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O(I x H x W / P) ~ O(1)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 = image height, W = image width,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 = num procs CUDA, I = iters hysteresis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21255">
            <a:off x="884691" y="6060584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17041" y="828042"/>
            <a:ext cx="8253917" cy="93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1"/>
              </a:lnSpc>
            </a:pPr>
            <a:r>
              <a:rPr lang="en-US" b="true" sz="6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Rezultate CUDA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4617443" y="6210424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057650" y="-119650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37247" y="-369386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56727" y="2166264"/>
            <a:ext cx="8258514" cy="4955108"/>
          </a:xfrm>
          <a:custGeom>
            <a:avLst/>
            <a:gdLst/>
            <a:ahLst/>
            <a:cxnLst/>
            <a:rect r="r" b="b" t="t" l="l"/>
            <a:pathLst>
              <a:path h="4955108" w="8258514">
                <a:moveTo>
                  <a:pt x="0" y="0"/>
                </a:moveTo>
                <a:lnTo>
                  <a:pt x="8258513" y="0"/>
                </a:lnTo>
                <a:lnTo>
                  <a:pt x="8258513" y="4955109"/>
                </a:lnTo>
                <a:lnTo>
                  <a:pt x="0" y="49551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0136" y="2166264"/>
            <a:ext cx="8258514" cy="4955108"/>
          </a:xfrm>
          <a:custGeom>
            <a:avLst/>
            <a:gdLst/>
            <a:ahLst/>
            <a:cxnLst/>
            <a:rect r="r" b="b" t="t" l="l"/>
            <a:pathLst>
              <a:path h="4955108" w="8258514">
                <a:moveTo>
                  <a:pt x="0" y="0"/>
                </a:moveTo>
                <a:lnTo>
                  <a:pt x="8258514" y="0"/>
                </a:lnTo>
                <a:lnTo>
                  <a:pt x="8258514" y="4955109"/>
                </a:lnTo>
                <a:lnTo>
                  <a:pt x="0" y="49551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638342" y="7668637"/>
            <a:ext cx="7011317" cy="1589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5"/>
              </a:lnSpc>
            </a:pPr>
            <a:r>
              <a:rPr lang="en-US" sz="228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Configurație optimă:</a:t>
            </a:r>
            <a:r>
              <a:rPr lang="en-US" sz="22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16x16 (256 threads per block)</a:t>
            </a:r>
          </a:p>
          <a:p>
            <a:pPr algn="l">
              <a:lnSpc>
                <a:spcPts val="3205"/>
              </a:lnSpc>
            </a:pPr>
            <a:r>
              <a:rPr lang="en-US" sz="228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Cel mai bun timp obținut: </a:t>
            </a:r>
            <a:r>
              <a:rPr lang="en-US" sz="22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0.178s</a:t>
            </a:r>
          </a:p>
          <a:p>
            <a:pPr algn="l">
              <a:lnSpc>
                <a:spcPts val="3205"/>
              </a:lnSpc>
            </a:pPr>
            <a:r>
              <a:rPr lang="en-US" sz="228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Speedup obținut: </a:t>
            </a:r>
            <a:r>
              <a:rPr lang="en-US" sz="22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44.58x</a:t>
            </a:r>
          </a:p>
          <a:p>
            <a:pPr algn="l">
              <a:lnSpc>
                <a:spcPts val="3205"/>
              </a:lnSpc>
            </a:pPr>
            <a:r>
              <a:rPr lang="en-US" b="true" sz="22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Eficiență obținută: </a:t>
            </a:r>
            <a:r>
              <a:rPr lang="en-US" sz="22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79.6% (56 cores)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62293" y="7809084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-460057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72520" y="1067322"/>
            <a:ext cx="8542961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Varianta MPI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783217" y="-964573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1500" y="2841372"/>
            <a:ext cx="8355484" cy="6520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              Inovații &amp; Diferențe:</a:t>
            </a:r>
          </a:p>
          <a:p>
            <a:pPr algn="l">
              <a:lnSpc>
                <a:spcPts val="3833"/>
              </a:lnSpc>
            </a:pPr>
          </a:p>
          <a:p>
            <a:pPr algn="l" marL="559180" indent="-279590" lvl="1">
              <a:lnSpc>
                <a:spcPts val="3833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Paralelismul datelor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Împărțirea imaginii în benzi orizontale pentru fiecare proces.</a:t>
            </a:r>
          </a:p>
          <a:p>
            <a:pPr algn="l">
              <a:lnSpc>
                <a:spcPts val="3833"/>
              </a:lnSpc>
            </a:pPr>
          </a:p>
          <a:p>
            <a:pPr algn="l" marL="559180" indent="-279590" lvl="1">
              <a:lnSpc>
                <a:spcPts val="3833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Gaussian blur separabil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- Blur-ul este optimizat prin separare, astfel blur-ul 2D este aplicat ca blur 1D orizontal urmat de blur 1D vertical.</a:t>
            </a:r>
          </a:p>
          <a:p>
            <a:pPr algn="l">
              <a:lnSpc>
                <a:spcPts val="3833"/>
              </a:lnSpc>
            </a:pPr>
          </a:p>
          <a:p>
            <a:pPr algn="l" marL="559180" indent="-279590" lvl="1">
              <a:lnSpc>
                <a:spcPts val="3833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Hysteresis Hibrid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Thresholding paralel, dar tracking (DFS) secvențial.</a:t>
            </a:r>
          </a:p>
          <a:p>
            <a:pPr algn="ctr">
              <a:lnSpc>
                <a:spcPts val="9053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748722" y="2841372"/>
            <a:ext cx="8188602" cy="11038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Probleme întâmpinate:</a:t>
            </a:r>
          </a:p>
          <a:p>
            <a:pPr algn="l">
              <a:lnSpc>
                <a:spcPts val="3833"/>
              </a:lnSpc>
            </a:pPr>
          </a:p>
          <a:p>
            <a:pPr algn="l" marL="559180" indent="-279590" lvl="1">
              <a:lnSpc>
                <a:spcPts val="3833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Comunicația între procese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- Schimbul de date dintre procese are overhead semnificativ. </a:t>
            </a:r>
          </a:p>
          <a:p>
            <a:pPr algn="l">
              <a:lnSpc>
                <a:spcPts val="3833"/>
              </a:lnSpc>
            </a:pPr>
          </a:p>
          <a:p>
            <a:pPr algn="l" marL="559180" indent="-279590" lvl="1">
              <a:lnSpc>
                <a:spcPts val="3833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Dependențele la margini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- Pixelii de la marginea superioară a unei sub-imagini au vecini care se află în sub-imaginea procesului anterior. Calculul corect al gradienților necesită comunicație suplimentară între procese. </a:t>
            </a:r>
          </a:p>
          <a:p>
            <a:pPr algn="l">
              <a:lnSpc>
                <a:spcPts val="4855"/>
              </a:lnSpc>
            </a:pPr>
          </a:p>
          <a:p>
            <a:pPr algn="l">
              <a:lnSpc>
                <a:spcPts val="4855"/>
              </a:lnSpc>
            </a:pPr>
          </a:p>
          <a:p>
            <a:pPr algn="ctr">
              <a:lnSpc>
                <a:spcPts val="4855"/>
              </a:lnSpc>
            </a:pPr>
          </a:p>
          <a:p>
            <a:pPr algn="ctr">
              <a:lnSpc>
                <a:spcPts val="4855"/>
              </a:lnSpc>
            </a:pPr>
          </a:p>
          <a:p>
            <a:pPr algn="ctr">
              <a:lnSpc>
                <a:spcPts val="4855"/>
              </a:lnSpc>
            </a:pPr>
          </a:p>
          <a:p>
            <a:pPr algn="ctr">
              <a:lnSpc>
                <a:spcPts val="4855"/>
              </a:lnSpc>
            </a:pPr>
          </a:p>
          <a:p>
            <a:pPr algn="ctr">
              <a:lnSpc>
                <a:spcPts val="4855"/>
              </a:lnSpc>
            </a:pPr>
          </a:p>
          <a:p>
            <a:pPr algn="ctr">
              <a:lnSpc>
                <a:spcPts val="4855"/>
              </a:lnSpc>
            </a:pPr>
          </a:p>
          <a:p>
            <a:pPr algn="ctr">
              <a:lnSpc>
                <a:spcPts val="4855"/>
              </a:lnSpc>
            </a:pPr>
          </a:p>
          <a:p>
            <a:pPr algn="ctr">
              <a:lnSpc>
                <a:spcPts val="4855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189873" y="8681291"/>
            <a:ext cx="13094040" cy="1380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Flux date:</a:t>
            </a:r>
          </a:p>
          <a:p>
            <a:pPr algn="ctr">
              <a:lnSpc>
                <a:spcPts val="3616"/>
              </a:lnSpc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Master -&gt; MPI Scatter  -&gt; MPI (CPU) -&gt; MPI Gather -&gt; Master</a:t>
            </a:r>
          </a:p>
          <a:p>
            <a:pPr algn="ctr">
              <a:lnSpc>
                <a:spcPts val="36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75864" y="6717358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6" y="0"/>
                </a:lnTo>
                <a:lnTo>
                  <a:pt x="4609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71625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48969" y="-1664108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6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6" y="4114800"/>
                </a:lnTo>
                <a:lnTo>
                  <a:pt x="46092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7725" y="1201903"/>
            <a:ext cx="7338522" cy="4485671"/>
          </a:xfrm>
          <a:custGeom>
            <a:avLst/>
            <a:gdLst/>
            <a:ahLst/>
            <a:cxnLst/>
            <a:rect r="r" b="b" t="t" l="l"/>
            <a:pathLst>
              <a:path h="4485671" w="7338522">
                <a:moveTo>
                  <a:pt x="0" y="0"/>
                </a:moveTo>
                <a:lnTo>
                  <a:pt x="7338522" y="0"/>
                </a:lnTo>
                <a:lnTo>
                  <a:pt x="7338522" y="4485671"/>
                </a:lnTo>
                <a:lnTo>
                  <a:pt x="0" y="44856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55344" y="5456143"/>
            <a:ext cx="6993692" cy="4659547"/>
          </a:xfrm>
          <a:custGeom>
            <a:avLst/>
            <a:gdLst/>
            <a:ahLst/>
            <a:cxnLst/>
            <a:rect r="r" b="b" t="t" l="l"/>
            <a:pathLst>
              <a:path h="4659547" w="6993692">
                <a:moveTo>
                  <a:pt x="0" y="0"/>
                </a:moveTo>
                <a:lnTo>
                  <a:pt x="6993692" y="0"/>
                </a:lnTo>
                <a:lnTo>
                  <a:pt x="6993692" y="4659547"/>
                </a:lnTo>
                <a:lnTo>
                  <a:pt x="0" y="46595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7519" y="268707"/>
            <a:ext cx="7365115" cy="93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1"/>
              </a:lnSpc>
            </a:pPr>
            <a:r>
              <a:rPr lang="en-US" b="true" sz="6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Profiling MPI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19548" y="684681"/>
            <a:ext cx="8653627" cy="493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95"/>
              </a:lnSpc>
            </a:pPr>
            <a:r>
              <a:rPr lang="en-US" sz="28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82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dentificarea Hotspot-urilor:</a:t>
            </a:r>
          </a:p>
          <a:p>
            <a:pPr algn="just">
              <a:lnSpc>
                <a:spcPts val="2585"/>
              </a:lnSpc>
            </a:pPr>
          </a:p>
          <a:p>
            <a:pPr algn="just" marL="494085" indent="-247042" lvl="1">
              <a:lnSpc>
                <a:spcPts val="2585"/>
              </a:lnSpc>
              <a:buFont typeface="Arial"/>
              <a:buChar char="•"/>
            </a:pPr>
            <a:r>
              <a:rPr lang="en-US" b="true" sz="228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Tool folosit</a:t>
            </a:r>
            <a:r>
              <a:rPr lang="en-US" sz="228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Intel VTune Profiler</a:t>
            </a:r>
          </a:p>
          <a:p>
            <a:pPr algn="just" marL="494085" indent="-247042" lvl="1">
              <a:lnSpc>
                <a:spcPts val="2585"/>
              </a:lnSpc>
              <a:buFont typeface="Arial"/>
              <a:buChar char="•"/>
            </a:pPr>
            <a:r>
              <a:rPr lang="en-US" b="true" sz="228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Bottleneck principal: </a:t>
            </a:r>
            <a:r>
              <a:rPr lang="en-US" sz="228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Funcția MPI_Bcast este dominantă, ocupând 36.8% din timpul total (21.5s). Asta indică faptul că distribuirea datelor către procese costă mai mult decât procesarea lor efectivă.</a:t>
            </a:r>
          </a:p>
          <a:p>
            <a:pPr algn="just" marL="494085" indent="-247042" lvl="1">
              <a:lnSpc>
                <a:spcPts val="2585"/>
              </a:lnSpc>
              <a:buFont typeface="Arial"/>
              <a:buChar char="•"/>
            </a:pPr>
            <a:r>
              <a:rPr lang="en-US" b="true" sz="228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Procesare Efectivă</a:t>
            </a:r>
            <a:r>
              <a:rPr lang="en-US" sz="228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Funcția Image::gaussianBlur (kernel-ul de calcul) a scăzut pe locul doi, reprezentând 15.4% din timp.</a:t>
            </a:r>
          </a:p>
          <a:p>
            <a:pPr algn="just" marL="494085" indent="-247042" lvl="1">
              <a:lnSpc>
                <a:spcPts val="2585"/>
              </a:lnSpc>
              <a:buFont typeface="Arial"/>
              <a:buChar char="•"/>
            </a:pPr>
            <a:r>
              <a:rPr lang="en-US" b="true" sz="228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Overhead</a:t>
            </a:r>
            <a:r>
              <a:rPr lang="en-US" b="true" sz="228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MPI: </a:t>
            </a:r>
            <a:r>
              <a:rPr lang="en-US" sz="228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 observă costuri administrative specifice, precum ompi_mpi_finalize (6.0%), reprezentând timpul necesar pentru sincronizarea și închiderea mediului distribuit.</a:t>
            </a:r>
          </a:p>
          <a:p>
            <a:pPr algn="just">
              <a:lnSpc>
                <a:spcPts val="2585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0" y="5728217"/>
            <a:ext cx="10607234" cy="445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</a:pPr>
            <a:r>
              <a:rPr lang="en-US" sz="275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Performanțe hardware:</a:t>
            </a:r>
          </a:p>
          <a:p>
            <a:pPr algn="just">
              <a:lnSpc>
                <a:spcPts val="2332"/>
              </a:lnSpc>
            </a:pPr>
          </a:p>
          <a:p>
            <a:pPr algn="just" marL="480854" indent="-240427" lvl="1">
              <a:lnSpc>
                <a:spcPts val="2516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Tool folosit:</a:t>
            </a:r>
            <a:r>
              <a:rPr lang="en-US" sz="22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perf rulat pe xl</a:t>
            </a:r>
          </a:p>
          <a:p>
            <a:pPr algn="just" marL="480854" indent="-240427" lvl="1">
              <a:lnSpc>
                <a:spcPts val="2516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</a:t>
            </a:r>
            <a:r>
              <a:rPr lang="en-US" b="true" sz="222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tilizare vs. Eficiență (IPC): </a:t>
            </a:r>
            <a:r>
              <a:rPr lang="en-US" sz="22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Graficul Instructions Per Cycle scade drastic pe măsură ce creștem numărul de core-uri (în special la 8 core-uri), deși CPU Utilization crește liniar. Asta înseamnă că procesorul stă mult în stări de așteptare (busy-waiting pentru date de la MPI), nu făcând calcule utile.</a:t>
            </a:r>
          </a:p>
          <a:p>
            <a:pPr algn="just" marL="480854" indent="-240427" lvl="1">
              <a:lnSpc>
                <a:spcPts val="2516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Izolarea Memoriei (Page Faults)</a:t>
            </a:r>
            <a:r>
              <a:rPr lang="en-US" sz="22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Graficul Page Faults arată o creștere liniară perfectă. În MPI fiecare proces își alocă propria memorie și copie a datelor, ducând la un overhead de sistem semnificativ mai mare.</a:t>
            </a:r>
          </a:p>
          <a:p>
            <a:pPr algn="just" marL="480854" indent="-240427" lvl="1">
              <a:lnSpc>
                <a:spcPts val="2516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Stabilitatea Execuției:</a:t>
            </a:r>
            <a:r>
              <a:rPr lang="en-US" sz="22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Branch Miss Rate crește brusc la 8 nuclee, sugerând că logica de sincronizare între multe procese devine impredictibilă pentru procesor.</a:t>
            </a:r>
          </a:p>
          <a:p>
            <a:pPr algn="just">
              <a:lnSpc>
                <a:spcPts val="233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919534">
            <a:off x="2887389" y="7372737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17041" y="419100"/>
            <a:ext cx="8253917" cy="93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1"/>
              </a:lnSpc>
            </a:pPr>
            <a:r>
              <a:rPr lang="en-US" b="true" sz="6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Rezultate MPI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7746122">
            <a:off x="15828199" y="5504693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057650" y="-119650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37247" y="-369386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66323" y="2861147"/>
            <a:ext cx="8555096" cy="5640910"/>
          </a:xfrm>
          <a:custGeom>
            <a:avLst/>
            <a:gdLst/>
            <a:ahLst/>
            <a:cxnLst/>
            <a:rect r="r" b="b" t="t" l="l"/>
            <a:pathLst>
              <a:path h="5640910" w="8555096">
                <a:moveTo>
                  <a:pt x="0" y="0"/>
                </a:moveTo>
                <a:lnTo>
                  <a:pt x="8555096" y="0"/>
                </a:lnTo>
                <a:lnTo>
                  <a:pt x="8555096" y="5640910"/>
                </a:lnTo>
                <a:lnTo>
                  <a:pt x="0" y="56409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34498" y="1887309"/>
            <a:ext cx="7593475" cy="7607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Rezultatul Optim:</a:t>
            </a:r>
          </a:p>
          <a:p>
            <a:pPr algn="ctr">
              <a:lnSpc>
                <a:spcPts val="3616"/>
              </a:lnSpc>
            </a:pPr>
          </a:p>
          <a:p>
            <a:pPr algn="just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Configurația Optimă: 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 procese. Graficul arată cea mai mare scădere a timpului de execuție în acest punct pentru toate dataset-urile mari.</a:t>
            </a:r>
          </a:p>
          <a:p>
            <a:pPr algn="just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Cel mai bun timp: 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Aproximativ 5 secunde pentru cel mai complex dataset (1_earth_8k), o îmbunătățire majoră față de cele ~14 secunde inițiale.</a:t>
            </a:r>
          </a:p>
          <a:p>
            <a:pPr algn="just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Speedup: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Se observă o accelerare de aproape 4x la utilizarea a 8 procese comparativ cu execuția pe un singur proces (pentru imaginile mari).</a:t>
            </a:r>
          </a:p>
          <a:p>
            <a:pPr algn="just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Eficiență: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Scalarea este puternică la imaginile mari. La cele mici (liniile din partea de jos), curba se aplatizează rapid, semn că overhead-ul comunicării MPI anulează beneficiile paralelizării.</a:t>
            </a:r>
          </a:p>
          <a:p>
            <a:pPr algn="just">
              <a:lnSpc>
                <a:spcPts val="292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95388" y="8229600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-460057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36538" y="647442"/>
            <a:ext cx="10414924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Varianta MPI-OPENMP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346962" y="-1715611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6434" y="2172258"/>
            <a:ext cx="8747566" cy="746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2"/>
              </a:lnSpc>
            </a:pPr>
            <a:r>
              <a:rPr lang="en-US" sz="32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              Inovații &amp; Diferențe:</a:t>
            </a:r>
          </a:p>
          <a:p>
            <a:pPr algn="l">
              <a:lnSpc>
                <a:spcPts val="2999"/>
              </a:lnSpc>
            </a:pPr>
          </a:p>
          <a:p>
            <a:pPr algn="l" marL="545533" indent="-272767" lvl="1">
              <a:lnSpc>
                <a:spcPts val="3739"/>
              </a:lnSpc>
              <a:buFont typeface="Arial"/>
              <a:buChar char="•"/>
            </a:pPr>
            <a:r>
              <a:rPr lang="en-US" b="true" sz="252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Arhitectură pe Două Niveluri: </a:t>
            </a:r>
            <a:r>
              <a:rPr lang="en-US" sz="252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Distribuția datelor se face prin MPI, iar calculul intensiv este paralelizat local prin OpenMP</a:t>
            </a:r>
          </a:p>
          <a:p>
            <a:pPr algn="l">
              <a:lnSpc>
                <a:spcPts val="3739"/>
              </a:lnSpc>
            </a:pPr>
          </a:p>
          <a:p>
            <a:pPr algn="l" marL="559180" indent="-279590" lvl="1">
              <a:lnSpc>
                <a:spcPts val="3833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Scheduling Adap</a:t>
            </a: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tiv: 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Utilizează schedule static pentru operații uniforme și dinamic pentru cele variabile</a:t>
            </a:r>
          </a:p>
          <a:p>
            <a:pPr algn="l">
              <a:lnSpc>
                <a:spcPts val="3739"/>
              </a:lnSpc>
            </a:pPr>
          </a:p>
          <a:p>
            <a:pPr algn="l" marL="545533" indent="-272767" lvl="1">
              <a:lnSpc>
                <a:spcPts val="3739"/>
              </a:lnSpc>
              <a:buFont typeface="Arial"/>
              <a:buChar char="•"/>
            </a:pPr>
            <a:r>
              <a:rPr lang="en-US" b="true" sz="252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Optimizări Algoritmice:</a:t>
            </a:r>
            <a:r>
              <a:rPr lang="en-US" sz="252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Kernel-ul Gaussian este descompus pentru reducerea complexității, iar recursivitatea din Hysteresis este înlocuită cu iterații paralele.</a:t>
            </a:r>
          </a:p>
          <a:p>
            <a:pPr algn="ctr">
              <a:lnSpc>
                <a:spcPts val="7084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408726" y="2281648"/>
            <a:ext cx="7277936" cy="633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Probleme întâmpinate:</a:t>
            </a:r>
          </a:p>
          <a:p>
            <a:pPr algn="l">
              <a:lnSpc>
                <a:spcPts val="3406"/>
              </a:lnSpc>
            </a:pPr>
          </a:p>
          <a:p>
            <a:pPr algn="l" marL="496993" indent="-248497" lvl="1">
              <a:lnSpc>
                <a:spcPts val="3406"/>
              </a:lnSpc>
              <a:buFont typeface="Arial"/>
              <a:buChar char="•"/>
            </a:pPr>
            <a:r>
              <a:rPr lang="en-US" b="true" sz="230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Overhead - </a:t>
            </a:r>
            <a:r>
              <a:rPr lang="en-US" sz="23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Combinarea MPI și OpenMP introduce overhead prin sincronizarea thread-urilor OpenMP și comunicarea între procesele MPI</a:t>
            </a:r>
          </a:p>
          <a:p>
            <a:pPr algn="l">
              <a:lnSpc>
                <a:spcPts val="3406"/>
              </a:lnSpc>
            </a:pPr>
          </a:p>
          <a:p>
            <a:pPr algn="l" marL="559180" indent="-279590" lvl="1">
              <a:lnSpc>
                <a:spcPts val="3833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Load balancing -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Distribuția neuniformă a calculelor poate apărea la ambele niveluri atât MPI cât și OpenMP</a:t>
            </a:r>
          </a:p>
          <a:p>
            <a:pPr algn="l">
              <a:lnSpc>
                <a:spcPts val="3406"/>
              </a:lnSpc>
            </a:pPr>
          </a:p>
          <a:p>
            <a:pPr algn="l" marL="496993" indent="-248497" lvl="1">
              <a:lnSpc>
                <a:spcPts val="340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Sincronizare în etapa de Hysteresis - </a:t>
            </a:r>
            <a:r>
              <a:rPr lang="en-US" sz="23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Etapa DFS pentru edge tracking este recursivă, fiind dificil de paralelizat eficient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56778" y="8906002"/>
            <a:ext cx="14069427" cy="1380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Flux date:</a:t>
            </a:r>
          </a:p>
          <a:p>
            <a:pPr algn="ctr">
              <a:lnSpc>
                <a:spcPts val="3616"/>
              </a:lnSpc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Master -&gt; MPI Scatter  -&gt; OPENMP (CPU) -&gt; MPI Gather -&gt; Master</a:t>
            </a:r>
          </a:p>
          <a:p>
            <a:pPr algn="ctr">
              <a:lnSpc>
                <a:spcPts val="36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75864" y="6717358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6" y="0"/>
                </a:lnTo>
                <a:lnTo>
                  <a:pt x="4609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71625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48969" y="-1664108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6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6" y="4114800"/>
                </a:lnTo>
                <a:lnTo>
                  <a:pt x="46092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58311" y="4967017"/>
            <a:ext cx="7395264" cy="5029307"/>
          </a:xfrm>
          <a:custGeom>
            <a:avLst/>
            <a:gdLst/>
            <a:ahLst/>
            <a:cxnLst/>
            <a:rect r="r" b="b" t="t" l="l"/>
            <a:pathLst>
              <a:path h="5029307" w="7395264">
                <a:moveTo>
                  <a:pt x="0" y="0"/>
                </a:moveTo>
                <a:lnTo>
                  <a:pt x="7395264" y="0"/>
                </a:lnTo>
                <a:lnTo>
                  <a:pt x="7395264" y="5029307"/>
                </a:lnTo>
                <a:lnTo>
                  <a:pt x="0" y="50293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37" t="0" r="-103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59787" y="1201903"/>
            <a:ext cx="7402550" cy="4274972"/>
          </a:xfrm>
          <a:custGeom>
            <a:avLst/>
            <a:gdLst/>
            <a:ahLst/>
            <a:cxnLst/>
            <a:rect r="r" b="b" t="t" l="l"/>
            <a:pathLst>
              <a:path h="4274972" w="7402550">
                <a:moveTo>
                  <a:pt x="0" y="0"/>
                </a:moveTo>
                <a:lnTo>
                  <a:pt x="7402549" y="0"/>
                </a:lnTo>
                <a:lnTo>
                  <a:pt x="7402549" y="4274972"/>
                </a:lnTo>
                <a:lnTo>
                  <a:pt x="0" y="42749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7519" y="268707"/>
            <a:ext cx="9691948" cy="93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1"/>
              </a:lnSpc>
            </a:pPr>
            <a:r>
              <a:rPr lang="en-US" b="true" sz="6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Profiling MPI-OPENMP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27026" y="876300"/>
            <a:ext cx="9426549" cy="3807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dentificarea Hotspot-urilor:</a:t>
            </a:r>
          </a:p>
          <a:p>
            <a:pPr algn="l">
              <a:lnSpc>
                <a:spcPts val="2926"/>
              </a:lnSpc>
            </a:pP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Tool folosit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Intel VTune Profiler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Bottleneck: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MPI_Bcast (25.2%) =&gt; comunicarea rămâne costisitoare, dar impactul e redus față de MPI pur.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Calcul Hibrid: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Funcțiile _omp_fn (OpenMP) apar în top – paralelizare eficientă la nivel de thread.</a:t>
            </a:r>
          </a:p>
          <a:p>
            <a:pPr algn="l" marL="559180" indent="-279590" lvl="1">
              <a:lnSpc>
                <a:spcPts val="292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Cost matematic: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Funcția folosita pentru calcularea direcției gradientului ocupa 8.3% =&gt; cost matematic constant.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3375" y="5495925"/>
            <a:ext cx="10097512" cy="4492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Performanțe hardware:</a:t>
            </a:r>
          </a:p>
          <a:p>
            <a:pPr algn="just">
              <a:lnSpc>
                <a:spcPts val="2711"/>
              </a:lnSpc>
            </a:pPr>
          </a:p>
          <a:p>
            <a:pPr algn="just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Tool folosit: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perf rulat pe xl</a:t>
            </a:r>
          </a:p>
          <a:p>
            <a:pPr algn="just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Eficiență (IPC):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Scade la 16 nuclee =&gt; saturație a benzii de memorie și overhead de sincronizare hibridă.</a:t>
            </a:r>
          </a:p>
          <a:p>
            <a:pPr algn="just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Predicție (Branch Miss)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Trend descendent (invers față de MPI) =&gt; execuția devine mai predictibilă pe măsură ce crește numărul de nuclee.</a:t>
            </a:r>
          </a:p>
          <a:p>
            <a:pPr algn="just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Memorie (Page Faults)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Creștere liniară =&gt; alocarea memoriei rămâne costisitoare din cauza naturii distribuite.</a:t>
            </a:r>
          </a:p>
          <a:p>
            <a:pPr algn="just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Utilizare CPU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Scalare logaritmică bună până la 16 nuclee.</a:t>
            </a:r>
          </a:p>
          <a:p>
            <a:pPr algn="just">
              <a:lnSpc>
                <a:spcPts val="271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919534">
            <a:off x="2887389" y="7372737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63772" y="401881"/>
            <a:ext cx="9775981" cy="93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1"/>
              </a:lnSpc>
            </a:pPr>
            <a:r>
              <a:rPr lang="en-US" b="true" sz="6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Rezultate MPI-OPENMP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7746122">
            <a:off x="15828199" y="5504693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057650" y="-119650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37247" y="-369386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81762" y="1873815"/>
            <a:ext cx="7085599" cy="6164471"/>
          </a:xfrm>
          <a:custGeom>
            <a:avLst/>
            <a:gdLst/>
            <a:ahLst/>
            <a:cxnLst/>
            <a:rect r="r" b="b" t="t" l="l"/>
            <a:pathLst>
              <a:path h="6164471" w="7085599">
                <a:moveTo>
                  <a:pt x="0" y="0"/>
                </a:moveTo>
                <a:lnTo>
                  <a:pt x="7085599" y="0"/>
                </a:lnTo>
                <a:lnTo>
                  <a:pt x="7085599" y="6164472"/>
                </a:lnTo>
                <a:lnTo>
                  <a:pt x="0" y="61644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5689" y="1915675"/>
            <a:ext cx="8616167" cy="7607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Rezultatul Optim:</a:t>
            </a:r>
          </a:p>
          <a:p>
            <a:pPr algn="ctr">
              <a:lnSpc>
                <a:spcPts val="3616"/>
              </a:lnSpc>
            </a:pP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Configurația "Sweet Spot"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Vârful graficului (zona galbenă) se atinge la combinațiile care totalizează 8 unități de execuție (ex: 2 Procese MPI × 4 Thread-uri OpenMP sau invers). Aceasta indică maparea ideală pe cele 8 nuclee fizice.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Speedup Maxim: 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 atinge o accelerare de aproximativ 3.5x față de varianta serială, depășind performanța MPI pur prin reducerea comunicării între procese.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Eficiență Hibridă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Graficul demonstrează că performanța nu crește liniar doar adăugând resurse; optimul este atins atunci când produsul (Procese × Thread-uri) se pliază perfect pe numărul de nuclee fizice disponibile.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Saturație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Zonele "joase" (mov/albastru) arată că subutilizarea sau suprasolicitarea (oversubscription) hardware-ului duce la scăderi drastice de eficiență.</a:t>
            </a:r>
          </a:p>
          <a:p>
            <a:pPr algn="l">
              <a:lnSpc>
                <a:spcPts val="292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48627" y="8229600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-460057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97403" y="749640"/>
            <a:ext cx="12443815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Varianta MPI-Pthreads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783217" y="-964573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7101" y="2533127"/>
            <a:ext cx="8787166" cy="5378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Inovații &amp; Diferențe:</a:t>
            </a:r>
          </a:p>
          <a:p>
            <a:pPr algn="l">
              <a:lnSpc>
                <a:spcPts val="3616"/>
              </a:lnSpc>
            </a:pP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Paralelism Hibrid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MPI distribuie datele între noduri (Distributed), Pthreads le procesează local (Shared Memory).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Halo Rows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Gestionare manuală a zonelor de suprapunere pentru convoluții corecte la marginile proceselor.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emorie Eficientă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Thread-urile împart același context (buffer-e), evitând duplicarea datelor per fir de execuție.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Sincronizare Ierarhică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Bariere rapide locale (threads) în locul comunicării globale costisitoare.</a:t>
            </a:r>
          </a:p>
          <a:p>
            <a:pPr algn="l">
              <a:lnSpc>
                <a:spcPts val="2926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042189" y="2533127"/>
            <a:ext cx="7369412" cy="5378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Probleme întâmpinate:</a:t>
            </a:r>
          </a:p>
          <a:p>
            <a:pPr algn="l">
              <a:lnSpc>
                <a:spcPts val="3616"/>
              </a:lnSpc>
            </a:pP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Hysteresis Fragmentat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Tracking-ul muchiilor (DFS) se întrerupe la granița dintre procesele MPI.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Complexitate Indici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Gestionare dificilă a 3 niveluri de coordonate (Global, Local-MPI, Sub-Local-Thread).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Bottleneck I/O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Etapele de Scatter și Gather rămân secvențiale și limitează scalabilitatea.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Load Balancing Rigid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Distribuția statică a rândurilor ignoră densitatea reală a muchiilor din imagine.</a:t>
            </a:r>
          </a:p>
          <a:p>
            <a:pPr algn="ctr">
              <a:lnSpc>
                <a:spcPts val="2926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897403" y="8045001"/>
            <a:ext cx="12289270" cy="1838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Flux de date:</a:t>
            </a:r>
          </a:p>
          <a:p>
            <a:pPr algn="ctr">
              <a:lnSpc>
                <a:spcPts val="3616"/>
              </a:lnSpc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Master (Disk) -&gt; MPI Scatter (+Halo) -&gt; Pthreads (CPU) -&gt; MPI Gather (-Halo) -&gt; Master</a:t>
            </a:r>
          </a:p>
          <a:p>
            <a:pPr algn="ctr">
              <a:lnSpc>
                <a:spcPts val="36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76715" y="7469424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6" y="0"/>
                </a:lnTo>
                <a:lnTo>
                  <a:pt x="4609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71625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749009" y="-1128757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7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7" y="4114800"/>
                </a:lnTo>
                <a:lnTo>
                  <a:pt x="46092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544717"/>
            <a:ext cx="8785077" cy="5382016"/>
          </a:xfrm>
          <a:custGeom>
            <a:avLst/>
            <a:gdLst/>
            <a:ahLst/>
            <a:cxnLst/>
            <a:rect r="r" b="b" t="t" l="l"/>
            <a:pathLst>
              <a:path h="5382016" w="8785077">
                <a:moveTo>
                  <a:pt x="0" y="0"/>
                </a:moveTo>
                <a:lnTo>
                  <a:pt x="8785077" y="0"/>
                </a:lnTo>
                <a:lnTo>
                  <a:pt x="8785077" y="5382016"/>
                </a:lnTo>
                <a:lnTo>
                  <a:pt x="0" y="53820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04109" y="1544717"/>
            <a:ext cx="6455191" cy="5382016"/>
          </a:xfrm>
          <a:custGeom>
            <a:avLst/>
            <a:gdLst/>
            <a:ahLst/>
            <a:cxnLst/>
            <a:rect r="r" b="b" t="t" l="l"/>
            <a:pathLst>
              <a:path h="5382016" w="6455191">
                <a:moveTo>
                  <a:pt x="0" y="0"/>
                </a:moveTo>
                <a:lnTo>
                  <a:pt x="6455191" y="0"/>
                </a:lnTo>
                <a:lnTo>
                  <a:pt x="6455191" y="5382016"/>
                </a:lnTo>
                <a:lnTo>
                  <a:pt x="0" y="53820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32555" y="481095"/>
            <a:ext cx="9768521" cy="93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1"/>
              </a:lnSpc>
            </a:pPr>
            <a:r>
              <a:rPr lang="en-US" b="true" sz="6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Profiling MPI-Pthreads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67000" y="7162800"/>
            <a:ext cx="15386632" cy="3206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Analiză Metrici (Hotspots &amp; Overhead)</a:t>
            </a:r>
          </a:p>
          <a:p>
            <a:pPr algn="ctr">
              <a:lnSpc>
                <a:spcPts val="1355"/>
              </a:lnSpc>
            </a:pP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Costul Distribuirii (Overhead)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Funcția MPI_Bcast domină consumul cu 26.9%, reprezentând "taxa" de timp necesară transmiterii datelor către cele 4 procese.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Raport Muncă vs. Comunicare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Timpul de calcul efectiv (workerThread - 24.9%) este comparabil cu cel de comunicare, ceea ce explică de ce scalarea nu este perfect liniară.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Configurație</a:t>
            </a: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Rezultate obținute pentru 4 procese și 2 threaduri (partea de MPI este mai eficientă).</a:t>
            </a:r>
          </a:p>
          <a:p>
            <a:pPr algn="l">
              <a:lnSpc>
                <a:spcPts val="271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21255">
            <a:off x="1015271" y="7448721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401881"/>
            <a:ext cx="18288000" cy="93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1"/>
              </a:lnSpc>
            </a:pPr>
            <a:r>
              <a:rPr lang="en-US" b="true" sz="6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Rezultate MPI-Pthreads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8562491">
            <a:off x="16814520" y="4702188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057650" y="-119650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37247" y="-369386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3569" y="1335077"/>
            <a:ext cx="9244779" cy="4056264"/>
          </a:xfrm>
          <a:custGeom>
            <a:avLst/>
            <a:gdLst/>
            <a:ahLst/>
            <a:cxnLst/>
            <a:rect r="r" b="b" t="t" l="l"/>
            <a:pathLst>
              <a:path h="4056264" w="9244779">
                <a:moveTo>
                  <a:pt x="0" y="0"/>
                </a:moveTo>
                <a:lnTo>
                  <a:pt x="9244779" y="0"/>
                </a:lnTo>
                <a:lnTo>
                  <a:pt x="9244779" y="4056264"/>
                </a:lnTo>
                <a:lnTo>
                  <a:pt x="0" y="40562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84" t="0" r="-10047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953750" y="4877817"/>
            <a:ext cx="6088107" cy="5104022"/>
          </a:xfrm>
          <a:custGeom>
            <a:avLst/>
            <a:gdLst/>
            <a:ahLst/>
            <a:cxnLst/>
            <a:rect r="r" b="b" t="t" l="l"/>
            <a:pathLst>
              <a:path h="5104022" w="6088107">
                <a:moveTo>
                  <a:pt x="0" y="0"/>
                </a:moveTo>
                <a:lnTo>
                  <a:pt x="6088107" y="0"/>
                </a:lnTo>
                <a:lnTo>
                  <a:pt x="6088107" y="5104023"/>
                </a:lnTo>
                <a:lnTo>
                  <a:pt x="0" y="51040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253854" y="4695952"/>
            <a:ext cx="8793178" cy="93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1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13569" y="5648198"/>
            <a:ext cx="10552202" cy="455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RECORD ABSOLUT: 6.42x</a:t>
            </a:r>
          </a:p>
          <a:p>
            <a:pPr algn="ctr">
              <a:lnSpc>
                <a:spcPts val="2926"/>
              </a:lnSpc>
            </a:pP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Configurație: 4 Procese × 2 Thread-uri (Total 8 Unități)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Rezoluție: 4928x3264 px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 obține pe o poză de dimensiuni medii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Mixul de 4 Procese × 2 Thread-uri s-a dovedit cel mai eficient.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Această combinație profită de memoria distribuită (MPI) pentru a împărți datele, dar folosește și agilitatea thread-urilor (Pthreads) pentru procesare locală rapidă. 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Eficiență de 80.25% pentru 4 procese și 2 threaduri.</a:t>
            </a:r>
          </a:p>
          <a:p>
            <a:pPr algn="l">
              <a:lnSpc>
                <a:spcPts val="2926"/>
              </a:lnSpc>
            </a:pPr>
          </a:p>
          <a:p>
            <a:pPr algn="l">
              <a:lnSpc>
                <a:spcPts val="2926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685139" y="1354127"/>
            <a:ext cx="7941924" cy="3807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Superioritatea Proceselor (MPI):</a:t>
            </a:r>
          </a:p>
          <a:p>
            <a:pPr algn="ctr">
              <a:lnSpc>
                <a:spcPts val="2926"/>
              </a:lnSpc>
            </a:pP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Comparația directă pe 4 unități de calcul este categorică: 4 procese MPI (4P-1T) obțin un speedup de ~4.4x, în timp ce 4 Thread-uri (1 proces și 4 threaduri) abia ating ~1.2x.</a:t>
            </a:r>
          </a:p>
          <a:p>
            <a:pPr algn="l" marL="559180" indent="-279590" lvl="1">
              <a:lnSpc>
                <a:spcPts val="2926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Explicatie: Procesele MPI au zone de memorie proprii, eliminând conflictele de scriere/citire în RAM care gâtuiau varianta Pthreads.</a:t>
            </a:r>
          </a:p>
          <a:p>
            <a:pPr algn="l">
              <a:lnSpc>
                <a:spcPts val="292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28186" y="7200900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-460057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03423" y="3159752"/>
            <a:ext cx="7338192" cy="406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Inovații &amp; Diferențe:</a:t>
            </a:r>
          </a:p>
          <a:p>
            <a:pPr algn="ctr">
              <a:lnSpc>
                <a:spcPts val="2520"/>
              </a:lnSpc>
            </a:pP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Paralelizare între imagini, 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fiecare thread gestionează fluxul unei imagini distincte</a:t>
            </a: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Dynamic scheduling 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pentru a compensa diferența de dimensiune dintre imagini (ex. imagini 612x408 și 8192x4096 în set)</a:t>
            </a: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Fiecare thread își alocă </a:t>
            </a: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propriile resurse GPU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66493" y="1325374"/>
            <a:ext cx="11555013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Varianta CUDA + OpenMP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783217" y="-964573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769453" y="3159752"/>
            <a:ext cx="7489847" cy="401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Probleme întâmpinate:</a:t>
            </a:r>
          </a:p>
          <a:p>
            <a:pPr algn="ctr">
              <a:lnSpc>
                <a:spcPts val="2100"/>
              </a:lnSpc>
            </a:pP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I/O bottleneck, 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iteza de citire de pe disc limitează alimentarea GPU-ului cu date</a:t>
            </a: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Context switching, 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verhead crescut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când numărul de thread-uri depășește capacitatea GPU-ului</a:t>
            </a: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Oversubscription, 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degradarea performanței la 8 thread-uri din cauza saturației resurselor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88305" y="7786851"/>
            <a:ext cx="11694912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Flux Date (per thread CPU):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CPU (load &amp; transfer) → GPU (procesare date) → CPU (final)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16433" y="7707733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6" y="0"/>
                </a:lnTo>
                <a:lnTo>
                  <a:pt x="4609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71625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954677" y="-1028700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6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6" y="4114800"/>
                </a:lnTo>
                <a:lnTo>
                  <a:pt x="46092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98294" y="2392095"/>
            <a:ext cx="10239771" cy="5849469"/>
          </a:xfrm>
          <a:custGeom>
            <a:avLst/>
            <a:gdLst/>
            <a:ahLst/>
            <a:cxnLst/>
            <a:rect r="r" b="b" t="t" l="l"/>
            <a:pathLst>
              <a:path h="5849469" w="10239771">
                <a:moveTo>
                  <a:pt x="0" y="0"/>
                </a:moveTo>
                <a:lnTo>
                  <a:pt x="10239770" y="0"/>
                </a:lnTo>
                <a:lnTo>
                  <a:pt x="10239770" y="5849469"/>
                </a:lnTo>
                <a:lnTo>
                  <a:pt x="0" y="5849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8498" y="754355"/>
            <a:ext cx="6709737" cy="184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1"/>
              </a:lnSpc>
            </a:pPr>
            <a:r>
              <a:rPr lang="en-US" b="true" sz="6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Profiling CUDA + OpenMP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8296" y="3463624"/>
            <a:ext cx="6930141" cy="364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7623" indent="-318812" lvl="1">
              <a:lnSpc>
                <a:spcPts val="4134"/>
              </a:lnSpc>
              <a:buFont typeface="Arial"/>
              <a:buChar char="•"/>
            </a:pPr>
            <a:r>
              <a:rPr lang="en-US" b="true" sz="29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Punctul optim</a:t>
            </a:r>
            <a:r>
              <a:rPr lang="en-US" sz="29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este atins la 4 threads, pentru throughput maxim</a:t>
            </a:r>
          </a:p>
          <a:p>
            <a:pPr algn="l" marL="637623" indent="-318812" lvl="1">
              <a:lnSpc>
                <a:spcPts val="4134"/>
              </a:lnSpc>
              <a:buFont typeface="Arial"/>
              <a:buChar char="•"/>
            </a:pPr>
            <a:r>
              <a:rPr lang="en-US" sz="29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Există un </a:t>
            </a:r>
            <a:r>
              <a:rPr lang="en-US" b="true" sz="29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tradeoff</a:t>
            </a:r>
            <a:r>
              <a:rPr lang="en-US" sz="29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între throughput și latența individuală per imagine</a:t>
            </a:r>
          </a:p>
          <a:p>
            <a:pPr algn="l" marL="637623" indent="-318812" lvl="1">
              <a:lnSpc>
                <a:spcPts val="4134"/>
              </a:lnSpc>
              <a:buFont typeface="Arial"/>
              <a:buChar char="•"/>
            </a:pPr>
            <a:r>
              <a:rPr lang="en-US" b="true" sz="29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Degradarea rezultatelor</a:t>
            </a:r>
            <a:r>
              <a:rPr lang="en-US" sz="29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odată cu creștera excesivă a threadurilor pe CPU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79513" y="8332548"/>
            <a:ext cx="7075164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Complexitate Spațială: 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O(H x W x T)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Complexitate Temporală: 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O(M x I x H x W / (P x T))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 = image height, W = image width, M = num images,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 = num CPU threads, P = num GPU threads, I = iters hysteresis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21255">
            <a:off x="555505" y="7249066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18001" y="847881"/>
            <a:ext cx="11051999" cy="93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1"/>
              </a:lnSpc>
            </a:pPr>
            <a:r>
              <a:rPr lang="en-US" b="true" sz="6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Rezultate CUDA + OpenMP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4617443" y="6210424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057650" y="-119650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37247" y="-369386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73464" y="2149957"/>
            <a:ext cx="7804179" cy="6955474"/>
          </a:xfrm>
          <a:custGeom>
            <a:avLst/>
            <a:gdLst/>
            <a:ahLst/>
            <a:cxnLst/>
            <a:rect r="r" b="b" t="t" l="l"/>
            <a:pathLst>
              <a:path h="6955474" w="7804179">
                <a:moveTo>
                  <a:pt x="0" y="0"/>
                </a:moveTo>
                <a:lnTo>
                  <a:pt x="7804179" y="0"/>
                </a:lnTo>
                <a:lnTo>
                  <a:pt x="7804179" y="6955475"/>
                </a:lnTo>
                <a:lnTo>
                  <a:pt x="0" y="6955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5915569"/>
            <a:ext cx="8115300" cy="3189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5"/>
              </a:lnSpc>
            </a:pPr>
            <a:r>
              <a:rPr lang="en-US" sz="228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Configurație optimă (Latență):</a:t>
            </a:r>
            <a:r>
              <a:rPr lang="en-US" sz="22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16x16 (256 GPU threads per block), 1 CPU threads</a:t>
            </a:r>
          </a:p>
          <a:p>
            <a:pPr algn="l">
              <a:lnSpc>
                <a:spcPts val="3205"/>
              </a:lnSpc>
            </a:pPr>
            <a:r>
              <a:rPr lang="en-US" sz="228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Configurație optimă (Throughput)</a:t>
            </a:r>
            <a:r>
              <a:rPr lang="en-US" sz="22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16x16 GPU, 4 CPU threads</a:t>
            </a:r>
          </a:p>
          <a:p>
            <a:pPr algn="l">
              <a:lnSpc>
                <a:spcPts val="3205"/>
              </a:lnSpc>
            </a:pPr>
            <a:r>
              <a:rPr lang="en-US" sz="228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Cel mai bun timp obținut: </a:t>
            </a:r>
            <a:r>
              <a:rPr lang="en-US" sz="22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0.167s (0.53s pe întregul set de imagini), ambele pe configurația pentru latență</a:t>
            </a:r>
          </a:p>
          <a:p>
            <a:pPr algn="l">
              <a:lnSpc>
                <a:spcPts val="3205"/>
              </a:lnSpc>
            </a:pPr>
            <a:r>
              <a:rPr lang="en-US" sz="228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Speedup obținut: </a:t>
            </a:r>
            <a:r>
              <a:rPr lang="en-US" sz="22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45.3x</a:t>
            </a:r>
          </a:p>
          <a:p>
            <a:pPr algn="l">
              <a:lnSpc>
                <a:spcPts val="3205"/>
              </a:lnSpc>
            </a:pPr>
            <a:r>
              <a:rPr lang="en-US" b="true" sz="22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Eficiență obținută: </a:t>
            </a:r>
            <a:r>
              <a:rPr lang="en-US" sz="22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80.89% (56 cores)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542533"/>
            <a:ext cx="8115300" cy="260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7623" indent="-318812" lvl="1">
              <a:lnSpc>
                <a:spcPts val="4134"/>
              </a:lnSpc>
              <a:buFont typeface="Arial"/>
              <a:buChar char="•"/>
            </a:pPr>
            <a:r>
              <a:rPr lang="en-US" b="true" sz="29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Eficiența la nivel de pixel </a:t>
            </a:r>
            <a:r>
              <a:rPr lang="en-US" sz="29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este una constantă, vârful se menține la 16x16</a:t>
            </a:r>
          </a:p>
          <a:p>
            <a:pPr algn="l" marL="637623" indent="-318812" lvl="1">
              <a:lnSpc>
                <a:spcPts val="4134"/>
              </a:lnSpc>
              <a:buFont typeface="Arial"/>
              <a:buChar char="•"/>
            </a:pPr>
            <a:r>
              <a:rPr lang="en-US" b="true" sz="29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Blocksize-urile </a:t>
            </a:r>
            <a:r>
              <a:rPr lang="en-US" sz="29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 un impact pozitiv asupra performanței, în timp ce </a:t>
            </a:r>
            <a:r>
              <a:rPr lang="en-US" b="true" sz="29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threadurile CPU </a:t>
            </a:r>
            <a:r>
              <a:rPr lang="en-US" sz="29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trag în jos eficiența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28186" y="7200900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-460057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03423" y="3159752"/>
            <a:ext cx="7338192" cy="3603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Inovații &amp; Diferențe:</a:t>
            </a:r>
          </a:p>
          <a:p>
            <a:pPr algn="ctr">
              <a:lnSpc>
                <a:spcPts val="2520"/>
              </a:lnSpc>
            </a:pP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Descompunerea imaginii 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între fâșii orizontale, distribuite între procese</a:t>
            </a: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Gestionarea zonelor de overlap 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prin introducerea de rânduri suplimentare</a:t>
            </a: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Pipeline distribuit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masterul citește și transmite datele către celelalte procese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66493" y="1325374"/>
            <a:ext cx="11555013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Varianta CUDA + MPI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783217" y="-964573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769453" y="3159752"/>
            <a:ext cx="7489847" cy="401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Probleme întâmpinate:</a:t>
            </a:r>
          </a:p>
          <a:p>
            <a:pPr algn="ctr">
              <a:lnSpc>
                <a:spcPts val="2100"/>
              </a:lnSpc>
            </a:pP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Calculul overlap-ului, 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esențial pentru a ev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ita artefactele sau erorile de memorie</a:t>
            </a: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Pierderea continuității: 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în hysteresis, muchiile aflate la granițe își pierd urma</a:t>
            </a: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</a:t>
            </a: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verhead de comunicație, 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costul tra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nsferului depășește beneficiul paralelizării la imagini mici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88305" y="7786851"/>
            <a:ext cx="11694912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Flux Date: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CPU (load &amp; transfer între procese) → GPU (procesare fâșie per proces) → CPU (asamblare imagine finală)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16433" y="7707733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6" y="0"/>
                </a:lnTo>
                <a:lnTo>
                  <a:pt x="4609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425" y="71625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954677" y="-1028700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6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6" y="4114800"/>
                </a:lnTo>
                <a:lnTo>
                  <a:pt x="46092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11750" y="1923324"/>
            <a:ext cx="14163853" cy="6019638"/>
          </a:xfrm>
          <a:custGeom>
            <a:avLst/>
            <a:gdLst/>
            <a:ahLst/>
            <a:cxnLst/>
            <a:rect r="r" b="b" t="t" l="l"/>
            <a:pathLst>
              <a:path h="6019638" w="14163853">
                <a:moveTo>
                  <a:pt x="0" y="0"/>
                </a:moveTo>
                <a:lnTo>
                  <a:pt x="14163853" y="0"/>
                </a:lnTo>
                <a:lnTo>
                  <a:pt x="14163853" y="6019637"/>
                </a:lnTo>
                <a:lnTo>
                  <a:pt x="0" y="60196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18033" y="754355"/>
            <a:ext cx="8651935" cy="93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1"/>
              </a:lnSpc>
            </a:pPr>
            <a:r>
              <a:rPr lang="en-US" b="true" sz="6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Profiling CUDA + MPI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11750" y="8079614"/>
            <a:ext cx="7032549" cy="1029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904" indent="-318452" lvl="1">
              <a:lnSpc>
                <a:spcPts val="4129"/>
              </a:lnSpc>
              <a:buFont typeface="Arial"/>
              <a:buChar char="•"/>
            </a:pPr>
            <a:r>
              <a:rPr lang="en-US" b="true" sz="294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Timpul de calcul</a:t>
            </a:r>
            <a:r>
              <a:rPr lang="en-US" sz="29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scade constant (speedup 1.66x la 4 procese)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298" y="8079614"/>
            <a:ext cx="7131304" cy="155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904" indent="-318452" lvl="1">
              <a:lnSpc>
                <a:spcPts val="4129"/>
              </a:lnSpc>
              <a:buFont typeface="Arial"/>
              <a:buChar char="•"/>
            </a:pPr>
            <a:r>
              <a:rPr lang="en-US" b="true" sz="294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Overhead-ul de comunicație </a:t>
            </a:r>
            <a:r>
              <a:rPr lang="en-US" sz="29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domină timpul total de execuție (speedup real subunitar, 0.31x)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21255">
            <a:off x="555505" y="7249066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1"/>
                </a:lnTo>
                <a:lnTo>
                  <a:pt x="0" y="805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18001" y="847881"/>
            <a:ext cx="11051999" cy="93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1"/>
              </a:lnSpc>
            </a:pPr>
            <a:r>
              <a:rPr lang="en-US" b="true" sz="63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Rezultate CUDA + MPI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4430121" y="6261884"/>
            <a:ext cx="4259304" cy="8050231"/>
          </a:xfrm>
          <a:custGeom>
            <a:avLst/>
            <a:gdLst/>
            <a:ahLst/>
            <a:cxnLst/>
            <a:rect r="r" b="b" t="t" l="l"/>
            <a:pathLst>
              <a:path h="8050231" w="4259304">
                <a:moveTo>
                  <a:pt x="0" y="0"/>
                </a:moveTo>
                <a:lnTo>
                  <a:pt x="4259304" y="0"/>
                </a:lnTo>
                <a:lnTo>
                  <a:pt x="4259304" y="8050232"/>
                </a:lnTo>
                <a:lnTo>
                  <a:pt x="0" y="8050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057650" y="-119650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37247" y="-369386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44305" y="2189539"/>
            <a:ext cx="7760641" cy="6955474"/>
          </a:xfrm>
          <a:custGeom>
            <a:avLst/>
            <a:gdLst/>
            <a:ahLst/>
            <a:cxnLst/>
            <a:rect r="r" b="b" t="t" l="l"/>
            <a:pathLst>
              <a:path h="6955474" w="7760641">
                <a:moveTo>
                  <a:pt x="0" y="0"/>
                </a:moveTo>
                <a:lnTo>
                  <a:pt x="7760640" y="0"/>
                </a:lnTo>
                <a:lnTo>
                  <a:pt x="7760640" y="6955474"/>
                </a:lnTo>
                <a:lnTo>
                  <a:pt x="0" y="69554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4891715"/>
            <a:ext cx="8115300" cy="2389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5"/>
              </a:lnSpc>
            </a:pPr>
            <a:r>
              <a:rPr lang="en-US" sz="228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Configurație optimă (timp total):</a:t>
            </a:r>
            <a:r>
              <a:rPr lang="en-US" sz="22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16x16 (256 GPU threads per block), 1 proces MPI</a:t>
            </a:r>
          </a:p>
          <a:p>
            <a:pPr algn="l">
              <a:lnSpc>
                <a:spcPts val="3205"/>
              </a:lnSpc>
            </a:pPr>
            <a:r>
              <a:rPr lang="en-US" sz="228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Configurație optimă (timp calcul): </a:t>
            </a:r>
            <a:r>
              <a:rPr lang="en-US" sz="22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16x16 GPU, 4 procese</a:t>
            </a:r>
          </a:p>
          <a:p>
            <a:pPr algn="l">
              <a:lnSpc>
                <a:spcPts val="3205"/>
              </a:lnSpc>
            </a:pPr>
            <a:r>
              <a:rPr lang="en-US" sz="228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Cel mai bun timp obținut: </a:t>
            </a:r>
            <a:r>
              <a:rPr lang="en-US" sz="22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0.167s</a:t>
            </a:r>
          </a:p>
          <a:p>
            <a:pPr algn="l">
              <a:lnSpc>
                <a:spcPts val="3205"/>
              </a:lnSpc>
            </a:pPr>
            <a:r>
              <a:rPr lang="en-US" sz="228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Speedup obținut: </a:t>
            </a:r>
            <a:r>
              <a:rPr lang="en-US" sz="22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45.3x</a:t>
            </a:r>
          </a:p>
          <a:p>
            <a:pPr algn="l">
              <a:lnSpc>
                <a:spcPts val="3205"/>
              </a:lnSpc>
            </a:pPr>
            <a:r>
              <a:rPr lang="en-US" b="true" sz="22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Eficiență obținută: </a:t>
            </a:r>
            <a:r>
              <a:rPr lang="en-US" sz="22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80.89% (56 cores)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346168"/>
            <a:ext cx="8115300" cy="2077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7623" indent="-318812" lvl="1">
              <a:lnSpc>
                <a:spcPts val="4134"/>
              </a:lnSpc>
              <a:buFont typeface="Arial"/>
              <a:buChar char="•"/>
            </a:pPr>
            <a:r>
              <a:rPr lang="en-US" b="true" sz="29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Performanța </a:t>
            </a:r>
            <a:r>
              <a:rPr lang="en-US" sz="29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scade gradual, odată cu creșterea numărului de procese</a:t>
            </a:r>
          </a:p>
          <a:p>
            <a:pPr algn="l" marL="637623" indent="-318812" lvl="1">
              <a:lnSpc>
                <a:spcPts val="4134"/>
              </a:lnSpc>
              <a:buFont typeface="Arial"/>
              <a:buChar char="•"/>
            </a:pPr>
            <a:r>
              <a:rPr lang="en-US" sz="29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Graficul confirmă faptul că </a:t>
            </a:r>
            <a:r>
              <a:rPr lang="en-US" b="true" sz="29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performanța maximă se atinge la blocksize-ul 16x16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739864"/>
            <a:ext cx="5073654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Complexitate Spațială: 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O(H x W x S)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Complexitate Temporală: 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O(H x W / (P x S))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 = image height, W = image width,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 = num procs CUDA, S = num procs MPI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86350" y="-4057650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68864" y="-1384136"/>
            <a:ext cx="6532692" cy="7879344"/>
          </a:xfrm>
          <a:custGeom>
            <a:avLst/>
            <a:gdLst/>
            <a:ahLst/>
            <a:cxnLst/>
            <a:rect r="r" b="b" t="t" l="l"/>
            <a:pathLst>
              <a:path h="7879344" w="6532692">
                <a:moveTo>
                  <a:pt x="0" y="0"/>
                </a:moveTo>
                <a:lnTo>
                  <a:pt x="6532692" y="0"/>
                </a:lnTo>
                <a:lnTo>
                  <a:pt x="6532692" y="7879344"/>
                </a:lnTo>
                <a:lnTo>
                  <a:pt x="0" y="78793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5240643" y="4135578"/>
            <a:ext cx="6532692" cy="7879344"/>
          </a:xfrm>
          <a:custGeom>
            <a:avLst/>
            <a:gdLst/>
            <a:ahLst/>
            <a:cxnLst/>
            <a:rect r="r" b="b" t="t" l="l"/>
            <a:pathLst>
              <a:path h="7879344" w="6532692">
                <a:moveTo>
                  <a:pt x="0" y="7879343"/>
                </a:moveTo>
                <a:lnTo>
                  <a:pt x="6532692" y="7879343"/>
                </a:lnTo>
                <a:lnTo>
                  <a:pt x="6532692" y="0"/>
                </a:lnTo>
                <a:lnTo>
                  <a:pt x="0" y="0"/>
                </a:lnTo>
                <a:lnTo>
                  <a:pt x="0" y="78793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04197" y="2555536"/>
            <a:ext cx="9794906" cy="6121816"/>
          </a:xfrm>
          <a:custGeom>
            <a:avLst/>
            <a:gdLst/>
            <a:ahLst/>
            <a:cxnLst/>
            <a:rect r="r" b="b" t="t" l="l"/>
            <a:pathLst>
              <a:path h="6121816" w="9794906">
                <a:moveTo>
                  <a:pt x="0" y="0"/>
                </a:moveTo>
                <a:lnTo>
                  <a:pt x="9794906" y="0"/>
                </a:lnTo>
                <a:lnTo>
                  <a:pt x="9794906" y="6121816"/>
                </a:lnTo>
                <a:lnTo>
                  <a:pt x="0" y="61218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43161" y="790145"/>
            <a:ext cx="10001678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Analiza Comparativa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4065" y="3100489"/>
            <a:ext cx="7338192" cy="497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Clasificarea pe niveluri:</a:t>
            </a:r>
          </a:p>
          <a:p>
            <a:pPr algn="ctr">
              <a:lnSpc>
                <a:spcPts val="2520"/>
              </a:lnSpc>
            </a:pP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Tier 1  (GPUs): 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variantele CUDA au</a:t>
            </a: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cea mai bună performanță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cu o eficiență de aproximativ 80%</a:t>
            </a: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Tier 2 (CPU optimizat): 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implementările hibride și cele ce folosesc shared memory oferă cei mai buni timpi pe CPU</a:t>
            </a: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Tier 3 (Baseline &amp; Overhead): 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implementarea MPI suferă din cauza overhead-ului de comunicare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04197" y="8772602"/>
            <a:ext cx="9794906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*timpul mapat în acest grafic pentru Hybrid CUDA+MPI este timpul de calcul, timpul total fiind cel mai slab dintre implementările GPU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33588" y="5806884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60842" y="-3707565"/>
            <a:ext cx="7060793" cy="6649983"/>
          </a:xfrm>
          <a:custGeom>
            <a:avLst/>
            <a:gdLst/>
            <a:ahLst/>
            <a:cxnLst/>
            <a:rect r="r" b="b" t="t" l="l"/>
            <a:pathLst>
              <a:path h="6649983" w="7060793">
                <a:moveTo>
                  <a:pt x="0" y="0"/>
                </a:moveTo>
                <a:lnTo>
                  <a:pt x="7060793" y="0"/>
                </a:lnTo>
                <a:lnTo>
                  <a:pt x="7060793" y="6649984"/>
                </a:lnTo>
                <a:lnTo>
                  <a:pt x="0" y="66499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664621" y="-753127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82562" y="2833344"/>
            <a:ext cx="10572589" cy="5947081"/>
          </a:xfrm>
          <a:custGeom>
            <a:avLst/>
            <a:gdLst/>
            <a:ahLst/>
            <a:cxnLst/>
            <a:rect r="r" b="b" t="t" l="l"/>
            <a:pathLst>
              <a:path h="5947081" w="10572589">
                <a:moveTo>
                  <a:pt x="0" y="0"/>
                </a:moveTo>
                <a:lnTo>
                  <a:pt x="10572589" y="0"/>
                </a:lnTo>
                <a:lnTo>
                  <a:pt x="10572589" y="5947081"/>
                </a:lnTo>
                <a:lnTo>
                  <a:pt x="0" y="59470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43161" y="681379"/>
            <a:ext cx="10001678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Breakdown Etape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4137367" y="5933308"/>
            <a:ext cx="7060793" cy="6649983"/>
          </a:xfrm>
          <a:custGeom>
            <a:avLst/>
            <a:gdLst/>
            <a:ahLst/>
            <a:cxnLst/>
            <a:rect r="r" b="b" t="t" l="l"/>
            <a:pathLst>
              <a:path h="6649983" w="7060793">
                <a:moveTo>
                  <a:pt x="0" y="0"/>
                </a:moveTo>
                <a:lnTo>
                  <a:pt x="7060793" y="0"/>
                </a:lnTo>
                <a:lnTo>
                  <a:pt x="7060793" y="6649984"/>
                </a:lnTo>
                <a:lnTo>
                  <a:pt x="0" y="66499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6595" y="3976729"/>
            <a:ext cx="6353862" cy="3603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CPU vs GPU:</a:t>
            </a:r>
          </a:p>
          <a:p>
            <a:pPr algn="ctr">
              <a:lnSpc>
                <a:spcPts val="2520"/>
              </a:lnSpc>
            </a:pP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CPU: 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timpul este dominat de calcule matematice grele (ex. Gaussian Blur și Sobel)</a:t>
            </a:r>
          </a:p>
          <a:p>
            <a:pPr algn="l" marL="558436" indent="-279218" lvl="1">
              <a:lnSpc>
                <a:spcPts val="3621"/>
              </a:lnSpc>
              <a:buFont typeface="Arial"/>
              <a:buChar char="•"/>
            </a:pPr>
            <a:r>
              <a:rPr lang="en-US" b="true" sz="258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GPU: </a:t>
            </a:r>
            <a:r>
              <a:rPr lang="en-US" sz="25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aceste etape dispar total, timpul este dictat de Hysteresis (fiind iterativ) și de transferul de date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9233" y="5476190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36719" y="-1369721"/>
            <a:ext cx="6532692" cy="7879344"/>
          </a:xfrm>
          <a:custGeom>
            <a:avLst/>
            <a:gdLst/>
            <a:ahLst/>
            <a:cxnLst/>
            <a:rect r="r" b="b" t="t" l="l"/>
            <a:pathLst>
              <a:path h="7879344" w="6532692">
                <a:moveTo>
                  <a:pt x="0" y="0"/>
                </a:moveTo>
                <a:lnTo>
                  <a:pt x="6532692" y="0"/>
                </a:lnTo>
                <a:lnTo>
                  <a:pt x="6532692" y="7879343"/>
                </a:lnTo>
                <a:lnTo>
                  <a:pt x="0" y="7879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4009254" y="4514447"/>
            <a:ext cx="6532692" cy="7879344"/>
          </a:xfrm>
          <a:custGeom>
            <a:avLst/>
            <a:gdLst/>
            <a:ahLst/>
            <a:cxnLst/>
            <a:rect r="r" b="b" t="t" l="l"/>
            <a:pathLst>
              <a:path h="7879344" w="6532692">
                <a:moveTo>
                  <a:pt x="0" y="7879344"/>
                </a:moveTo>
                <a:lnTo>
                  <a:pt x="6532692" y="7879344"/>
                </a:lnTo>
                <a:lnTo>
                  <a:pt x="6532692" y="0"/>
                </a:lnTo>
                <a:lnTo>
                  <a:pt x="0" y="0"/>
                </a:lnTo>
                <a:lnTo>
                  <a:pt x="0" y="78793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43161" y="1422048"/>
            <a:ext cx="10001678" cy="161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Concluzie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94921" y="3492767"/>
            <a:ext cx="12098158" cy="390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Nu </a:t>
            </a: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există o soluție universală. Alegerea arhitecturii depinde de constrângerile hardware și de volumul de date: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pentru performanță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pentru procesare batch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pentru imagini gigantice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clustere CPU (fără GPU)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simplitate în dezvoltare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4616717"/>
            <a:ext cx="3868507" cy="278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CUDA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CUDA + OpenMP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CUDA + MPI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MPI + Pthreads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OpenMP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7501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78375">
            <a:off x="8323700" y="-4291982"/>
            <a:ext cx="15959856" cy="8583964"/>
          </a:xfrm>
          <a:custGeom>
            <a:avLst/>
            <a:gdLst/>
            <a:ahLst/>
            <a:cxnLst/>
            <a:rect r="r" b="b" t="t" l="l"/>
            <a:pathLst>
              <a:path h="8583964" w="15959856">
                <a:moveTo>
                  <a:pt x="0" y="0"/>
                </a:moveTo>
                <a:lnTo>
                  <a:pt x="15959857" y="0"/>
                </a:lnTo>
                <a:lnTo>
                  <a:pt x="15959857" y="8583964"/>
                </a:lnTo>
                <a:lnTo>
                  <a:pt x="0" y="8583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66517">
            <a:off x="-1768901" y="4979430"/>
            <a:ext cx="12307770" cy="7200900"/>
          </a:xfrm>
          <a:custGeom>
            <a:avLst/>
            <a:gdLst/>
            <a:ahLst/>
            <a:cxnLst/>
            <a:rect r="r" b="b" t="t" l="l"/>
            <a:pathLst>
              <a:path h="7200900" w="1230777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98306" y="3576230"/>
            <a:ext cx="9754567" cy="3001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MULTUMIM PENTRU ATENTIE!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DAG86hEEIl0</dc:identifier>
  <dcterms:modified xsi:type="dcterms:W3CDTF">2011-08-01T06:04:30Z</dcterms:modified>
  <cp:revision>1</cp:revision>
  <dc:title>Cannycore</dc:title>
</cp:coreProperties>
</file>